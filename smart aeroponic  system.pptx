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282" r:id="rId3"/>
    <p:sldId id="273" r:id="rId4"/>
    <p:sldId id="275" r:id="rId5"/>
    <p:sldId id="279" r:id="rId6"/>
    <p:sldId id="283" r:id="rId7"/>
    <p:sldId id="284" r:id="rId8"/>
    <p:sldId id="280" r:id="rId9"/>
    <p:sldId id="285" r:id="rId10"/>
    <p:sldId id="286" r:id="rId11"/>
    <p:sldId id="264"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598" autoAdjust="0"/>
  </p:normalViewPr>
  <p:slideViewPr>
    <p:cSldViewPr snapToGrid="0">
      <p:cViewPr varScale="1">
        <p:scale>
          <a:sx n="78" d="100"/>
          <a:sy n="78" d="100"/>
        </p:scale>
        <p:origin x="85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F80DB95-12C2-4B36-87AD-364F2FE8885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C884-7234-2BA2-FF7B-C71890420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23BB2-626F-EBB0-C377-1295F423B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3D50A-AEE0-7AA0-2653-8DD5C0E618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EBDF11-EB56-26E1-991D-BD522C62F837}"/>
              </a:ext>
            </a:extLst>
          </p:cNvPr>
          <p:cNvSpPr>
            <a:spLocks noGrp="1"/>
          </p:cNvSpPr>
          <p:nvPr>
            <p:ph type="sldNum" sz="quarter" idx="10"/>
          </p:nvPr>
        </p:nvSpPr>
        <p:spPr/>
        <p:txBody>
          <a:bodyPr/>
          <a:lstStyle/>
          <a:p>
            <a:fld id="{4F80DB95-12C2-4B36-87AD-364F2FE88859}" type="slidenum">
              <a:rPr lang="en-US" smtClean="0"/>
              <a:t>2</a:t>
            </a:fld>
            <a:endParaRPr lang="en-US"/>
          </a:p>
        </p:txBody>
      </p:sp>
    </p:spTree>
    <p:extLst>
      <p:ext uri="{BB962C8B-B14F-4D97-AF65-F5344CB8AC3E}">
        <p14:creationId xmlns:p14="http://schemas.microsoft.com/office/powerpoint/2010/main" val="796462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82ADE-373E-33AF-C477-C79064A78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CB0F4-377A-B939-72EF-06AF02B80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A03BB-DC70-ADBF-C3CE-C49A21F08A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64AB95-AD74-B890-BF0C-6B43BA101CE5}"/>
              </a:ext>
            </a:extLst>
          </p:cNvPr>
          <p:cNvSpPr>
            <a:spLocks noGrp="1"/>
          </p:cNvSpPr>
          <p:nvPr>
            <p:ph type="sldNum" sz="quarter" idx="10"/>
          </p:nvPr>
        </p:nvSpPr>
        <p:spPr/>
        <p:txBody>
          <a:bodyPr/>
          <a:lstStyle/>
          <a:p>
            <a:fld id="{4F80DB95-12C2-4B36-87AD-364F2FE88859}" type="slidenum">
              <a:rPr lang="en-US" smtClean="0"/>
              <a:t>3</a:t>
            </a:fld>
            <a:endParaRPr lang="en-US"/>
          </a:p>
        </p:txBody>
      </p:sp>
    </p:spTree>
    <p:extLst>
      <p:ext uri="{BB962C8B-B14F-4D97-AF65-F5344CB8AC3E}">
        <p14:creationId xmlns:p14="http://schemas.microsoft.com/office/powerpoint/2010/main" val="1871457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7760-5ABB-D39E-676D-7DC88F54B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D9933-B5C7-C757-A77C-DAE53C431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89FEA-11AB-A1CE-E8EF-061356CB04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142466-C76C-672F-8289-B6F449020C5E}"/>
              </a:ext>
            </a:extLst>
          </p:cNvPr>
          <p:cNvSpPr>
            <a:spLocks noGrp="1"/>
          </p:cNvSpPr>
          <p:nvPr>
            <p:ph type="sldNum" sz="quarter" idx="10"/>
          </p:nvPr>
        </p:nvSpPr>
        <p:spPr/>
        <p:txBody>
          <a:bodyPr/>
          <a:lstStyle/>
          <a:p>
            <a:fld id="{4F80DB95-12C2-4B36-87AD-364F2FE88859}" type="slidenum">
              <a:rPr lang="en-US" smtClean="0"/>
              <a:t>4</a:t>
            </a:fld>
            <a:endParaRPr lang="en-US"/>
          </a:p>
        </p:txBody>
      </p:sp>
    </p:spTree>
    <p:extLst>
      <p:ext uri="{BB962C8B-B14F-4D97-AF65-F5344CB8AC3E}">
        <p14:creationId xmlns:p14="http://schemas.microsoft.com/office/powerpoint/2010/main" val="110180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7269A-6448-A0DA-4FE4-683EA5CF9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B5695-E475-5ECC-4989-8F7EBDFB4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FE887-F6F9-2E0C-7C88-78F61B3C19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269489-8055-BF31-1982-EE08C5A75E05}"/>
              </a:ext>
            </a:extLst>
          </p:cNvPr>
          <p:cNvSpPr>
            <a:spLocks noGrp="1"/>
          </p:cNvSpPr>
          <p:nvPr>
            <p:ph type="sldNum" sz="quarter" idx="10"/>
          </p:nvPr>
        </p:nvSpPr>
        <p:spPr/>
        <p:txBody>
          <a:bodyPr/>
          <a:lstStyle/>
          <a:p>
            <a:fld id="{4F80DB95-12C2-4B36-87AD-364F2FE88859}" type="slidenum">
              <a:rPr lang="en-US" smtClean="0"/>
              <a:t>5</a:t>
            </a:fld>
            <a:endParaRPr lang="en-US"/>
          </a:p>
        </p:txBody>
      </p:sp>
    </p:spTree>
    <p:extLst>
      <p:ext uri="{BB962C8B-B14F-4D97-AF65-F5344CB8AC3E}">
        <p14:creationId xmlns:p14="http://schemas.microsoft.com/office/powerpoint/2010/main" val="1895916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21E21-AC12-2E18-266B-C7D335A3C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7006F-2E60-5ECF-BB15-E9E0DE887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19CD9-8E4A-2B91-752E-C2C5463DD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09E2A0-71A9-D68A-EB85-6159CABADFAE}"/>
              </a:ext>
            </a:extLst>
          </p:cNvPr>
          <p:cNvSpPr>
            <a:spLocks noGrp="1"/>
          </p:cNvSpPr>
          <p:nvPr>
            <p:ph type="sldNum" sz="quarter" idx="10"/>
          </p:nvPr>
        </p:nvSpPr>
        <p:spPr/>
        <p:txBody>
          <a:bodyPr/>
          <a:lstStyle/>
          <a:p>
            <a:fld id="{4F80DB95-12C2-4B36-87AD-364F2FE88859}" type="slidenum">
              <a:rPr lang="en-US" smtClean="0"/>
              <a:t>6</a:t>
            </a:fld>
            <a:endParaRPr lang="en-US"/>
          </a:p>
        </p:txBody>
      </p:sp>
    </p:spTree>
    <p:extLst>
      <p:ext uri="{BB962C8B-B14F-4D97-AF65-F5344CB8AC3E}">
        <p14:creationId xmlns:p14="http://schemas.microsoft.com/office/powerpoint/2010/main" val="3258787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3B26E-EFE0-07A8-D23E-C534D519E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044A7-9D1A-0E92-FE54-FFB5EAB9B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99246-BE89-2F6D-0F5F-BA093B4264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CD8EC3-C057-4CE3-5619-E132487933CE}"/>
              </a:ext>
            </a:extLst>
          </p:cNvPr>
          <p:cNvSpPr>
            <a:spLocks noGrp="1"/>
          </p:cNvSpPr>
          <p:nvPr>
            <p:ph type="sldNum" sz="quarter" idx="10"/>
          </p:nvPr>
        </p:nvSpPr>
        <p:spPr/>
        <p:txBody>
          <a:bodyPr/>
          <a:lstStyle/>
          <a:p>
            <a:fld id="{4F80DB95-12C2-4B36-87AD-364F2FE88859}" type="slidenum">
              <a:rPr lang="en-US" smtClean="0"/>
              <a:t>7</a:t>
            </a:fld>
            <a:endParaRPr lang="en-US"/>
          </a:p>
        </p:txBody>
      </p:sp>
    </p:spTree>
    <p:extLst>
      <p:ext uri="{BB962C8B-B14F-4D97-AF65-F5344CB8AC3E}">
        <p14:creationId xmlns:p14="http://schemas.microsoft.com/office/powerpoint/2010/main" val="1510988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93EB-C461-B3C0-33D7-9C92CE5DE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2E2FA-31F3-07FE-BD08-36683E6A1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519F3-04E4-30A1-01DD-E9491FDD1B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E231FA-8D51-145D-98B3-8F80C2D90DD4}"/>
              </a:ext>
            </a:extLst>
          </p:cNvPr>
          <p:cNvSpPr>
            <a:spLocks noGrp="1"/>
          </p:cNvSpPr>
          <p:nvPr>
            <p:ph type="sldNum" sz="quarter" idx="10"/>
          </p:nvPr>
        </p:nvSpPr>
        <p:spPr/>
        <p:txBody>
          <a:bodyPr/>
          <a:lstStyle/>
          <a:p>
            <a:fld id="{4F80DB95-12C2-4B36-87AD-364F2FE88859}" type="slidenum">
              <a:rPr lang="en-US" smtClean="0"/>
              <a:t>8</a:t>
            </a:fld>
            <a:endParaRPr lang="en-US"/>
          </a:p>
        </p:txBody>
      </p:sp>
    </p:spTree>
    <p:extLst>
      <p:ext uri="{BB962C8B-B14F-4D97-AF65-F5344CB8AC3E}">
        <p14:creationId xmlns:p14="http://schemas.microsoft.com/office/powerpoint/2010/main" val="147482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5639-CF0C-9A09-4EC5-F4AB89195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3C68C-CFD3-A72E-D92F-7DCA6486E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7C415-95C7-8D69-0E28-368AF9DA23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754472-DCA1-8D19-0AAB-3CD4F033B6CC}"/>
              </a:ext>
            </a:extLst>
          </p:cNvPr>
          <p:cNvSpPr>
            <a:spLocks noGrp="1"/>
          </p:cNvSpPr>
          <p:nvPr>
            <p:ph type="sldNum" sz="quarter" idx="10"/>
          </p:nvPr>
        </p:nvSpPr>
        <p:spPr/>
        <p:txBody>
          <a:bodyPr/>
          <a:lstStyle/>
          <a:p>
            <a:fld id="{4F80DB95-12C2-4B36-87AD-364F2FE88859}" type="slidenum">
              <a:rPr lang="en-US" smtClean="0"/>
              <a:t>9</a:t>
            </a:fld>
            <a:endParaRPr lang="en-US"/>
          </a:p>
        </p:txBody>
      </p:sp>
    </p:spTree>
    <p:extLst>
      <p:ext uri="{BB962C8B-B14F-4D97-AF65-F5344CB8AC3E}">
        <p14:creationId xmlns:p14="http://schemas.microsoft.com/office/powerpoint/2010/main" val="662704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696FF-3749-A6A3-D2AC-FABFD25F6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AF41B-C3E3-7FA5-4B49-CCD42C935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4CD8C-CD25-A362-E560-DBB61375B7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E32919-0032-7C10-1F80-33B82CD24652}"/>
              </a:ext>
            </a:extLst>
          </p:cNvPr>
          <p:cNvSpPr>
            <a:spLocks noGrp="1"/>
          </p:cNvSpPr>
          <p:nvPr>
            <p:ph type="sldNum" sz="quarter" idx="10"/>
          </p:nvPr>
        </p:nvSpPr>
        <p:spPr/>
        <p:txBody>
          <a:bodyPr/>
          <a:lstStyle/>
          <a:p>
            <a:fld id="{4F80DB95-12C2-4B36-87AD-364F2FE88859}" type="slidenum">
              <a:rPr lang="en-US" smtClean="0"/>
              <a:t>10</a:t>
            </a:fld>
            <a:endParaRPr lang="en-US"/>
          </a:p>
        </p:txBody>
      </p:sp>
    </p:spTree>
    <p:extLst>
      <p:ext uri="{BB962C8B-B14F-4D97-AF65-F5344CB8AC3E}">
        <p14:creationId xmlns:p14="http://schemas.microsoft.com/office/powerpoint/2010/main" val="351280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FA66-0D5A-B4A2-7328-54B174ADE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45DF2-BD48-4811-FEB4-FB183F2C7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B9791-3CD7-FFF2-4577-0D103F437E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4CB9A8-D89F-8BED-C085-445FEED64C9D}"/>
              </a:ext>
            </a:extLst>
          </p:cNvPr>
          <p:cNvSpPr>
            <a:spLocks noGrp="1"/>
          </p:cNvSpPr>
          <p:nvPr>
            <p:ph type="sldNum" sz="quarter" idx="10"/>
          </p:nvPr>
        </p:nvSpPr>
        <p:spPr/>
        <p:txBody>
          <a:bodyPr/>
          <a:lstStyle/>
          <a:p>
            <a:fld id="{4F80DB95-12C2-4B36-87AD-364F2FE88859}" type="slidenum">
              <a:rPr lang="en-US" smtClean="0"/>
              <a:t>11</a:t>
            </a:fld>
            <a:endParaRPr lang="en-US"/>
          </a:p>
        </p:txBody>
      </p:sp>
    </p:spTree>
    <p:extLst>
      <p:ext uri="{BB962C8B-B14F-4D97-AF65-F5344CB8AC3E}">
        <p14:creationId xmlns:p14="http://schemas.microsoft.com/office/powerpoint/2010/main" val="2168768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3.emf"/><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a:spLocks noGrp="1"/>
          </p:cNvSpPr>
          <p:nvPr/>
        </p:nvSpPr>
        <p:spPr>
          <a:xfrm>
            <a:off x="99383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0" name="Title 1"/>
          <p:cNvSpPr txBox="1"/>
          <p:nvPr/>
        </p:nvSpPr>
        <p:spPr>
          <a:xfrm>
            <a:off x="1195158" y="2153001"/>
            <a:ext cx="9890475" cy="140241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400" kern="1200" baseline="0">
                <a:solidFill>
                  <a:schemeClr val="tx1"/>
                </a:solidFill>
                <a:latin typeface="Times New Roman" panose="02020603050405020304" pitchFamily="18" charset="0"/>
                <a:ea typeface="+mj-ea"/>
                <a:cs typeface="Times New Roman" panose="02020603050405020304" pitchFamily="18" charset="0"/>
              </a:defRPr>
            </a:lvl1pPr>
          </a:lstStyle>
          <a:p>
            <a:r>
              <a:rPr lang="en-US" sz="2000" dirty="0">
                <a:solidFill>
                  <a:srgbClr val="002060"/>
                </a:solidFill>
                <a:latin typeface="+mn-lt"/>
              </a:rPr>
              <a:t>AEROPONIC FARMS WITH IOT BASED </a:t>
            </a:r>
          </a:p>
          <a:p>
            <a:r>
              <a:rPr lang="en-US" sz="2000" dirty="0">
                <a:solidFill>
                  <a:srgbClr val="002060"/>
                </a:solidFill>
                <a:latin typeface="+mn-lt"/>
              </a:rPr>
              <a:t>MONITORING AND AUTOMATION</a:t>
            </a:r>
            <a:endParaRPr lang="en-US" sz="2000" kern="1200" baseline="0" dirty="0">
              <a:solidFill>
                <a:srgbClr val="002060"/>
              </a:solidFill>
              <a:latin typeface="+mn-lt"/>
            </a:endParaRPr>
          </a:p>
        </p:txBody>
      </p:sp>
      <p:sp>
        <p:nvSpPr>
          <p:cNvPr id="26" name="Text Box 25"/>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sp>
        <p:nvSpPr>
          <p:cNvPr id="2" name="Rectangle 1">
            <a:extLst>
              <a:ext uri="{FF2B5EF4-FFF2-40B4-BE49-F238E27FC236}">
                <a16:creationId xmlns:a16="http://schemas.microsoft.com/office/drawing/2014/main" id="{E04C2307-B2AA-B8A6-AD73-456CF1A4A724}"/>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 Box 27"/>
          <p:cNvSpPr txBox="1"/>
          <p:nvPr/>
        </p:nvSpPr>
        <p:spPr>
          <a:xfrm>
            <a:off x="1340708" y="-73615"/>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IN" b="1" spc="-105" dirty="0">
                <a:solidFill>
                  <a:srgbClr val="E0343B"/>
                </a:solidFill>
                <a:latin typeface="Times New Roman"/>
                <a:cs typeface="Times New Roman"/>
              </a:rPr>
              <a:t>KIT-</a:t>
            </a:r>
            <a:r>
              <a:rPr lang="en-IN" b="1" spc="-25" dirty="0">
                <a:solidFill>
                  <a:srgbClr val="E0343B"/>
                </a:solidFill>
                <a:latin typeface="Times New Roman"/>
                <a:cs typeface="Times New Roman"/>
              </a:rPr>
              <a:t>KALAIGNARKARUNANIDHI</a:t>
            </a:r>
            <a:r>
              <a:rPr lang="en-IN" b="1" spc="-114" dirty="0">
                <a:solidFill>
                  <a:srgbClr val="E0343B"/>
                </a:solidFill>
                <a:latin typeface="Times New Roman"/>
                <a:cs typeface="Times New Roman"/>
              </a:rPr>
              <a:t> </a:t>
            </a:r>
            <a:r>
              <a:rPr lang="en-IN" b="1" dirty="0">
                <a:solidFill>
                  <a:srgbClr val="E0343B"/>
                </a:solidFill>
                <a:latin typeface="Times New Roman"/>
                <a:cs typeface="Times New Roman"/>
              </a:rPr>
              <a:t>INSTITUTE</a:t>
            </a:r>
            <a:r>
              <a:rPr lang="en-IN" b="1" spc="-50" dirty="0">
                <a:solidFill>
                  <a:srgbClr val="E0343B"/>
                </a:solidFill>
                <a:latin typeface="Times New Roman"/>
                <a:cs typeface="Times New Roman"/>
              </a:rPr>
              <a:t> </a:t>
            </a:r>
            <a:r>
              <a:rPr lang="en-IN" b="1" spc="-30" dirty="0">
                <a:solidFill>
                  <a:srgbClr val="E0343B"/>
                </a:solidFill>
                <a:latin typeface="Times New Roman"/>
                <a:cs typeface="Times New Roman"/>
              </a:rPr>
              <a:t>OF</a:t>
            </a:r>
            <a:r>
              <a:rPr lang="en-IN" b="1" spc="-180" dirty="0">
                <a:solidFill>
                  <a:srgbClr val="E0343B"/>
                </a:solidFill>
                <a:latin typeface="Times New Roman"/>
                <a:cs typeface="Times New Roman"/>
              </a:rPr>
              <a:t> </a:t>
            </a:r>
            <a:r>
              <a:rPr lang="en-IN" b="1" spc="-10" dirty="0">
                <a:solidFill>
                  <a:srgbClr val="E0343B"/>
                </a:solidFill>
                <a:latin typeface="Times New Roman"/>
                <a:cs typeface="Times New Roman"/>
              </a:rPr>
              <a:t>TECHNOLOGY    </a:t>
            </a:r>
          </a:p>
          <a:p>
            <a:pPr algn="ctr"/>
            <a:r>
              <a:rPr lang="en-IN" b="1" spc="-10" dirty="0">
                <a:solidFill>
                  <a:srgbClr val="E0343B"/>
                </a:solidFill>
                <a:latin typeface="Times New Roman"/>
                <a:cs typeface="Times New Roman"/>
              </a:rPr>
              <a:t>                                    COIMBATORE - 641402               </a:t>
            </a:r>
            <a:r>
              <a:rPr lang="en-IN" b="1" spc="-40" dirty="0">
                <a:solidFill>
                  <a:srgbClr val="E0343B"/>
                </a:solidFill>
                <a:latin typeface="Times New Roman"/>
                <a:cs typeface="Times New Roman"/>
              </a:rPr>
              <a:t>  </a:t>
            </a:r>
            <a:endParaRPr lang="en-US" dirty="0">
              <a:solidFill>
                <a:srgbClr val="002060"/>
              </a:solidFill>
            </a:endParaRPr>
          </a:p>
          <a:p>
            <a:pPr marL="1262380" algn="ctr">
              <a:lnSpc>
                <a:spcPct val="100000"/>
              </a:lnSpc>
              <a:spcBef>
                <a:spcPts val="575"/>
              </a:spcBef>
            </a:pPr>
            <a:endParaRPr lang="en-US" b="1" spc="-165" dirty="0">
              <a:solidFill>
                <a:srgbClr val="373435"/>
              </a:solidFill>
              <a:latin typeface="Times New Roman" panose="02020603050405020304" pitchFamily="18" charset="0"/>
              <a:cs typeface="Times New Roman" panose="02020603050405020304" pitchFamily="18" charset="0"/>
            </a:endParaRPr>
          </a:p>
          <a:p>
            <a:pPr marL="1262380" algn="ctr">
              <a:lnSpc>
                <a:spcPct val="100000"/>
              </a:lnSpc>
              <a:spcBef>
                <a:spcPts val="575"/>
              </a:spcBef>
            </a:pPr>
            <a:r>
              <a:rPr lang="en-US" b="1" spc="-165" dirty="0">
                <a:solidFill>
                  <a:srgbClr val="373435"/>
                </a:solidFill>
                <a:latin typeface="Times New Roman" panose="02020603050405020304" pitchFamily="18" charset="0"/>
                <a:cs typeface="Times New Roman" panose="02020603050405020304" pitchFamily="18" charset="0"/>
              </a:rPr>
              <a:t>Approved</a:t>
            </a:r>
            <a:r>
              <a:rPr lang="en-US" b="1" spc="-35" dirty="0">
                <a:solidFill>
                  <a:srgbClr val="373435"/>
                </a:solidFill>
                <a:latin typeface="Times New Roman" panose="02020603050405020304" pitchFamily="18" charset="0"/>
                <a:cs typeface="Times New Roman" panose="02020603050405020304" pitchFamily="18" charset="0"/>
              </a:rPr>
              <a:t> </a:t>
            </a:r>
            <a:r>
              <a:rPr lang="en-US" b="1" spc="-170" dirty="0">
                <a:solidFill>
                  <a:srgbClr val="373435"/>
                </a:solidFill>
                <a:latin typeface="Times New Roman" panose="02020603050405020304" pitchFamily="18" charset="0"/>
                <a:cs typeface="Times New Roman" panose="02020603050405020304" pitchFamily="18" charset="0"/>
              </a:rPr>
              <a:t>by</a:t>
            </a:r>
            <a:r>
              <a:rPr lang="en-US" b="1" spc="-40" dirty="0">
                <a:solidFill>
                  <a:srgbClr val="373435"/>
                </a:solidFill>
                <a:latin typeface="Times New Roman" panose="02020603050405020304" pitchFamily="18" charset="0"/>
                <a:cs typeface="Times New Roman" panose="02020603050405020304" pitchFamily="18" charset="0"/>
              </a:rPr>
              <a:t> </a:t>
            </a:r>
            <a:r>
              <a:rPr lang="en-US" b="1" dirty="0">
                <a:solidFill>
                  <a:srgbClr val="373435"/>
                </a:solidFill>
                <a:latin typeface="Times New Roman" panose="02020603050405020304" pitchFamily="18" charset="0"/>
                <a:cs typeface="Times New Roman" panose="02020603050405020304" pitchFamily="18" charset="0"/>
              </a:rPr>
              <a:t>AICTE</a:t>
            </a:r>
            <a:r>
              <a:rPr lang="en-US" b="1" spc="-35" dirty="0">
                <a:solidFill>
                  <a:srgbClr val="373435"/>
                </a:solidFill>
                <a:latin typeface="Times New Roman" panose="02020603050405020304" pitchFamily="18" charset="0"/>
                <a:cs typeface="Times New Roman" panose="02020603050405020304" pitchFamily="18" charset="0"/>
              </a:rPr>
              <a:t> </a:t>
            </a:r>
            <a:r>
              <a:rPr lang="en-US" b="1" spc="-80" dirty="0">
                <a:solidFill>
                  <a:srgbClr val="373435"/>
                </a:solidFill>
                <a:latin typeface="Times New Roman" panose="02020603050405020304" pitchFamily="18" charset="0"/>
                <a:cs typeface="Times New Roman" panose="02020603050405020304" pitchFamily="18" charset="0"/>
              </a:rPr>
              <a:t>Affiliated</a:t>
            </a:r>
            <a:r>
              <a:rPr lang="en-US" b="1" spc="-5" dirty="0">
                <a:solidFill>
                  <a:srgbClr val="373435"/>
                </a:solidFill>
                <a:latin typeface="Times New Roman" panose="02020603050405020304" pitchFamily="18" charset="0"/>
                <a:cs typeface="Times New Roman" panose="02020603050405020304" pitchFamily="18" charset="0"/>
              </a:rPr>
              <a:t> </a:t>
            </a:r>
            <a:r>
              <a:rPr lang="en-US" b="1" spc="-155" dirty="0">
                <a:solidFill>
                  <a:srgbClr val="373435"/>
                </a:solidFill>
                <a:latin typeface="Times New Roman" panose="02020603050405020304" pitchFamily="18" charset="0"/>
                <a:cs typeface="Times New Roman" panose="02020603050405020304" pitchFamily="18" charset="0"/>
              </a:rPr>
              <a:t>to</a:t>
            </a:r>
            <a:r>
              <a:rPr lang="en-US" b="1" spc="-35" dirty="0">
                <a:solidFill>
                  <a:srgbClr val="373435"/>
                </a:solidFill>
                <a:latin typeface="Times New Roman" panose="02020603050405020304" pitchFamily="18" charset="0"/>
                <a:cs typeface="Times New Roman" panose="02020603050405020304" pitchFamily="18" charset="0"/>
              </a:rPr>
              <a:t> </a:t>
            </a:r>
            <a:r>
              <a:rPr lang="en-US" b="1" spc="-114" dirty="0">
                <a:solidFill>
                  <a:srgbClr val="373435"/>
                </a:solidFill>
                <a:latin typeface="Times New Roman" panose="02020603050405020304" pitchFamily="18" charset="0"/>
                <a:cs typeface="Times New Roman" panose="02020603050405020304" pitchFamily="18" charset="0"/>
              </a:rPr>
              <a:t>Anna University,</a:t>
            </a:r>
            <a:r>
              <a:rPr lang="en-US" b="1" spc="10" dirty="0">
                <a:solidFill>
                  <a:srgbClr val="373435"/>
                </a:solidFill>
                <a:latin typeface="Times New Roman" panose="02020603050405020304" pitchFamily="18" charset="0"/>
                <a:cs typeface="Times New Roman" panose="02020603050405020304" pitchFamily="18" charset="0"/>
              </a:rPr>
              <a:t> </a:t>
            </a:r>
            <a:r>
              <a:rPr lang="en-US" b="1" spc="-114" dirty="0">
                <a:solidFill>
                  <a:srgbClr val="373435"/>
                </a:solidFill>
                <a:latin typeface="Times New Roman" panose="02020603050405020304" pitchFamily="18" charset="0"/>
                <a:cs typeface="Times New Roman" panose="02020603050405020304" pitchFamily="18" charset="0"/>
              </a:rPr>
              <a:t>Chennai</a:t>
            </a:r>
            <a:r>
              <a:rPr lang="en-US" b="1" spc="-20" dirty="0">
                <a:solidFill>
                  <a:srgbClr val="373435"/>
                </a:solidFill>
                <a:latin typeface="Times New Roman" panose="02020603050405020304" pitchFamily="18" charset="0"/>
                <a:cs typeface="Times New Roman" panose="02020603050405020304" pitchFamily="18" charset="0"/>
              </a:rPr>
              <a:t> </a:t>
            </a:r>
            <a:r>
              <a:rPr lang="en-US" b="1" spc="-120" dirty="0">
                <a:solidFill>
                  <a:srgbClr val="373435"/>
                </a:solidFill>
                <a:latin typeface="Times New Roman" panose="02020603050405020304" pitchFamily="18" charset="0"/>
                <a:cs typeface="Times New Roman" panose="02020603050405020304" pitchFamily="18" charset="0"/>
              </a:rPr>
              <a:t>Accredited</a:t>
            </a:r>
            <a:r>
              <a:rPr lang="en-US" b="1" spc="-30" dirty="0">
                <a:solidFill>
                  <a:srgbClr val="373435"/>
                </a:solidFill>
                <a:latin typeface="Times New Roman" panose="02020603050405020304" pitchFamily="18" charset="0"/>
                <a:cs typeface="Times New Roman" panose="02020603050405020304" pitchFamily="18" charset="0"/>
              </a:rPr>
              <a:t> </a:t>
            </a:r>
            <a:r>
              <a:rPr lang="en-US" b="1" spc="-10" dirty="0" err="1">
                <a:solidFill>
                  <a:srgbClr val="373435"/>
                </a:solidFill>
                <a:latin typeface="Times New Roman" panose="02020603050405020304" pitchFamily="18" charset="0"/>
                <a:cs typeface="Times New Roman" panose="02020603050405020304" pitchFamily="18" charset="0"/>
              </a:rPr>
              <a:t>With‘A’Grade</a:t>
            </a:r>
            <a:endParaRPr lang="en-US" dirty="0">
              <a:latin typeface="Times New Roman" panose="02020603050405020304" pitchFamily="18" charset="0"/>
              <a:cs typeface="Times New Roman" panose="02020603050405020304" pitchFamily="18" charset="0"/>
            </a:endParaRPr>
          </a:p>
          <a:p>
            <a:pPr marL="1263650" algn="ctr">
              <a:lnSpc>
                <a:spcPct val="100000"/>
              </a:lnSpc>
              <a:spcBef>
                <a:spcPts val="480"/>
              </a:spcBef>
            </a:pPr>
            <a:r>
              <a:rPr lang="en-US" b="1" spc="-170" dirty="0">
                <a:solidFill>
                  <a:srgbClr val="373435"/>
                </a:solidFill>
                <a:latin typeface="Times New Roman" panose="02020603050405020304" pitchFamily="18" charset="0"/>
                <a:cs typeface="Times New Roman" panose="02020603050405020304" pitchFamily="18" charset="0"/>
              </a:rPr>
              <a:t>by</a:t>
            </a:r>
            <a:r>
              <a:rPr lang="en-US" b="1" spc="-75" dirty="0">
                <a:solidFill>
                  <a:srgbClr val="373435"/>
                </a:solidFill>
                <a:latin typeface="Times New Roman" panose="02020603050405020304" pitchFamily="18" charset="0"/>
                <a:cs typeface="Times New Roman" panose="02020603050405020304" pitchFamily="18" charset="0"/>
              </a:rPr>
              <a:t> </a:t>
            </a:r>
            <a:r>
              <a:rPr lang="en-US" b="1" spc="-95" dirty="0">
                <a:solidFill>
                  <a:srgbClr val="373435"/>
                </a:solidFill>
                <a:latin typeface="Times New Roman" panose="02020603050405020304" pitchFamily="18" charset="0"/>
                <a:cs typeface="Times New Roman" panose="02020603050405020304" pitchFamily="18" charset="0"/>
              </a:rPr>
              <a:t>NAAC</a:t>
            </a:r>
            <a:r>
              <a:rPr lang="en-US" b="1" spc="-70" dirty="0">
                <a:solidFill>
                  <a:srgbClr val="373435"/>
                </a:solidFill>
                <a:latin typeface="Times New Roman" panose="02020603050405020304" pitchFamily="18" charset="0"/>
                <a:cs typeface="Times New Roman" panose="02020603050405020304" pitchFamily="18" charset="0"/>
              </a:rPr>
              <a:t> </a:t>
            </a:r>
            <a:r>
              <a:rPr lang="en-US" b="1" spc="-229" dirty="0">
                <a:solidFill>
                  <a:srgbClr val="373435"/>
                </a:solidFill>
                <a:latin typeface="Times New Roman" panose="02020603050405020304" pitchFamily="18" charset="0"/>
                <a:cs typeface="Times New Roman" panose="02020603050405020304" pitchFamily="18" charset="0"/>
              </a:rPr>
              <a:t>&amp;</a:t>
            </a:r>
            <a:r>
              <a:rPr lang="en-US" b="1" spc="-60" dirty="0">
                <a:solidFill>
                  <a:srgbClr val="373435"/>
                </a:solidFill>
                <a:latin typeface="Times New Roman" panose="02020603050405020304" pitchFamily="18" charset="0"/>
                <a:cs typeface="Times New Roman" panose="02020603050405020304" pitchFamily="18" charset="0"/>
              </a:rPr>
              <a:t> </a:t>
            </a:r>
            <a:r>
              <a:rPr lang="en-US" b="1" spc="-105" dirty="0">
                <a:solidFill>
                  <a:srgbClr val="373435"/>
                </a:solidFill>
                <a:latin typeface="Times New Roman" panose="02020603050405020304" pitchFamily="18" charset="0"/>
                <a:cs typeface="Times New Roman" panose="02020603050405020304" pitchFamily="18" charset="0"/>
              </a:rPr>
              <a:t>By</a:t>
            </a:r>
            <a:r>
              <a:rPr lang="en-US" b="1" spc="-65" dirty="0">
                <a:solidFill>
                  <a:srgbClr val="373435"/>
                </a:solidFill>
                <a:latin typeface="Times New Roman" panose="02020603050405020304" pitchFamily="18" charset="0"/>
                <a:cs typeface="Times New Roman" panose="02020603050405020304" pitchFamily="18" charset="0"/>
              </a:rPr>
              <a:t> </a:t>
            </a:r>
            <a:r>
              <a:rPr lang="en-US" b="1" spc="-25" dirty="0">
                <a:solidFill>
                  <a:srgbClr val="373435"/>
                </a:solidFill>
                <a:latin typeface="Times New Roman" panose="02020603050405020304" pitchFamily="18" charset="0"/>
                <a:cs typeface="Times New Roman" panose="02020603050405020304" pitchFamily="18" charset="0"/>
              </a:rPr>
              <a:t>NBA</a:t>
            </a:r>
          </a:p>
          <a:p>
            <a:pPr marL="1263650" algn="ctr">
              <a:lnSpc>
                <a:spcPct val="100000"/>
              </a:lnSpc>
              <a:spcBef>
                <a:spcPts val="480"/>
              </a:spcBef>
            </a:pPr>
            <a:endParaRPr lang="en-US" dirty="0">
              <a:latin typeface="Times New Roman" panose="02020603050405020304" pitchFamily="18" charset="0"/>
              <a:cs typeface="Times New Roman" panose="02020603050405020304" pitchFamily="18" charset="0"/>
            </a:endParaRPr>
          </a:p>
          <a:p>
            <a:pPr algn="ctr"/>
            <a:r>
              <a:rPr lang="en-US" b="1" spc="-10" dirty="0">
                <a:solidFill>
                  <a:srgbClr val="6029CE"/>
                </a:solidFill>
                <a:latin typeface="Times New Roman"/>
                <a:cs typeface="Times New Roman"/>
              </a:rPr>
              <a:t>DEPARTMENT</a:t>
            </a:r>
            <a:r>
              <a:rPr lang="en-US" b="1" spc="35" dirty="0">
                <a:solidFill>
                  <a:srgbClr val="6029CE"/>
                </a:solidFill>
                <a:latin typeface="Times New Roman"/>
                <a:cs typeface="Times New Roman"/>
              </a:rPr>
              <a:t> </a:t>
            </a:r>
            <a:r>
              <a:rPr lang="en-US" b="1" dirty="0">
                <a:solidFill>
                  <a:srgbClr val="6029CE"/>
                </a:solidFill>
                <a:latin typeface="Times New Roman"/>
                <a:cs typeface="Times New Roman"/>
              </a:rPr>
              <a:t>OF</a:t>
            </a:r>
            <a:r>
              <a:rPr lang="en-US" b="1" spc="-70" dirty="0">
                <a:solidFill>
                  <a:srgbClr val="6029CE"/>
                </a:solidFill>
                <a:latin typeface="Times New Roman"/>
                <a:cs typeface="Times New Roman"/>
              </a:rPr>
              <a:t> </a:t>
            </a:r>
            <a:r>
              <a:rPr lang="en-US" b="1" dirty="0">
                <a:solidFill>
                  <a:srgbClr val="6029CE"/>
                </a:solidFill>
                <a:latin typeface="Times New Roman"/>
                <a:cs typeface="Times New Roman"/>
              </a:rPr>
              <a:t>ELECTRICAL</a:t>
            </a:r>
            <a:r>
              <a:rPr lang="en-US" b="1" spc="-229" dirty="0">
                <a:solidFill>
                  <a:srgbClr val="6029CE"/>
                </a:solidFill>
                <a:latin typeface="Times New Roman"/>
                <a:cs typeface="Times New Roman"/>
              </a:rPr>
              <a:t>  </a:t>
            </a:r>
            <a:r>
              <a:rPr lang="en-US" b="1" dirty="0">
                <a:solidFill>
                  <a:srgbClr val="6029CE"/>
                </a:solidFill>
                <a:latin typeface="Times New Roman"/>
                <a:cs typeface="Times New Roman"/>
              </a:rPr>
              <a:t>AND</a:t>
            </a:r>
            <a:r>
              <a:rPr lang="en-US" b="1" spc="80" dirty="0">
                <a:solidFill>
                  <a:srgbClr val="6029CE"/>
                </a:solidFill>
                <a:latin typeface="Times New Roman"/>
                <a:cs typeface="Times New Roman"/>
              </a:rPr>
              <a:t> </a:t>
            </a:r>
            <a:r>
              <a:rPr lang="en-US" b="1" dirty="0">
                <a:solidFill>
                  <a:srgbClr val="6029CE"/>
                </a:solidFill>
                <a:latin typeface="Times New Roman"/>
                <a:cs typeface="Times New Roman"/>
              </a:rPr>
              <a:t>ELECTRONICS</a:t>
            </a:r>
            <a:r>
              <a:rPr lang="en-US" b="1" spc="95" dirty="0">
                <a:solidFill>
                  <a:srgbClr val="6029CE"/>
                </a:solidFill>
                <a:latin typeface="Times New Roman"/>
                <a:cs typeface="Times New Roman"/>
              </a:rPr>
              <a:t> </a:t>
            </a:r>
            <a:r>
              <a:rPr lang="en-US" b="1" spc="-10" dirty="0">
                <a:solidFill>
                  <a:srgbClr val="6029CE"/>
                </a:solidFill>
                <a:latin typeface="Times New Roman"/>
                <a:cs typeface="Times New Roman"/>
              </a:rPr>
              <a:t>ENGINEERING</a:t>
            </a:r>
            <a:endParaRPr lang="en-US" dirty="0"/>
          </a:p>
        </p:txBody>
      </p:sp>
      <p:pic>
        <p:nvPicPr>
          <p:cNvPr id="3" name="Image 2">
            <a:extLst>
              <a:ext uri="{FF2B5EF4-FFF2-40B4-BE49-F238E27FC236}">
                <a16:creationId xmlns:a16="http://schemas.microsoft.com/office/drawing/2014/main" id="{13FEC860-6B23-C32E-5F8A-9B9A508C014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pic>
        <p:nvPicPr>
          <p:cNvPr id="5" name="Picture 4">
            <a:extLst>
              <a:ext uri="{FF2B5EF4-FFF2-40B4-BE49-F238E27FC236}">
                <a16:creationId xmlns:a16="http://schemas.microsoft.com/office/drawing/2014/main" id="{B8C0C1C7-6C3B-4EA9-355E-7EDD07DF09CD}"/>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extBox 6">
            <a:extLst>
              <a:ext uri="{FF2B5EF4-FFF2-40B4-BE49-F238E27FC236}">
                <a16:creationId xmlns:a16="http://schemas.microsoft.com/office/drawing/2014/main" id="{56F0B958-CDCC-CD4E-6366-298A2E1EE284}"/>
              </a:ext>
            </a:extLst>
          </p:cNvPr>
          <p:cNvSpPr txBox="1"/>
          <p:nvPr/>
        </p:nvSpPr>
        <p:spPr>
          <a:xfrm>
            <a:off x="8240936" y="4430378"/>
            <a:ext cx="2706743" cy="1200329"/>
          </a:xfrm>
          <a:prstGeom prst="rect">
            <a:avLst/>
          </a:prstGeom>
          <a:noFill/>
        </p:spPr>
        <p:txBody>
          <a:bodyPr wrap="square" rtlCol="0">
            <a:spAutoFit/>
          </a:bodyPr>
          <a:lstStyle/>
          <a:p>
            <a:r>
              <a:rPr lang="en-IN" dirty="0">
                <a:solidFill>
                  <a:srgbClr val="FF0000"/>
                </a:solidFill>
              </a:rPr>
              <a:t>PROJECT GUIDE</a:t>
            </a:r>
          </a:p>
          <a:p>
            <a:r>
              <a:rPr lang="en-US" dirty="0" err="1"/>
              <a:t>Dr.R.Lal</a:t>
            </a:r>
            <a:r>
              <a:rPr lang="en-US" dirty="0"/>
              <a:t> Raja Singh </a:t>
            </a:r>
            <a:endParaRPr lang="en-IN" dirty="0"/>
          </a:p>
          <a:p>
            <a:r>
              <a:rPr lang="en-IN" dirty="0"/>
              <a:t>AP/EEE</a:t>
            </a:r>
          </a:p>
          <a:p>
            <a:endParaRPr lang="en-IN" dirty="0"/>
          </a:p>
        </p:txBody>
      </p:sp>
      <p:sp>
        <p:nvSpPr>
          <p:cNvPr id="6" name="TextBox 5">
            <a:extLst>
              <a:ext uri="{FF2B5EF4-FFF2-40B4-BE49-F238E27FC236}">
                <a16:creationId xmlns:a16="http://schemas.microsoft.com/office/drawing/2014/main" id="{8CD53507-0934-AC44-7E4C-04324BF0E3F3}"/>
              </a:ext>
            </a:extLst>
          </p:cNvPr>
          <p:cNvSpPr txBox="1"/>
          <p:nvPr/>
        </p:nvSpPr>
        <p:spPr>
          <a:xfrm>
            <a:off x="1109447" y="4413379"/>
            <a:ext cx="4216596" cy="1200329"/>
          </a:xfrm>
          <a:prstGeom prst="rect">
            <a:avLst/>
          </a:prstGeom>
          <a:noFill/>
        </p:spPr>
        <p:txBody>
          <a:bodyPr wrap="square" rtlCol="0">
            <a:spAutoFit/>
          </a:bodyPr>
          <a:lstStyle/>
          <a:p>
            <a:r>
              <a:rPr lang="en-IN" dirty="0">
                <a:solidFill>
                  <a:srgbClr val="FF0000"/>
                </a:solidFill>
              </a:rPr>
              <a:t>TEAM MEMBERS:</a:t>
            </a:r>
          </a:p>
          <a:p>
            <a:r>
              <a:rPr lang="en-IN" dirty="0"/>
              <a:t>RANJITH R               -   711523BEE046</a:t>
            </a:r>
          </a:p>
          <a:p>
            <a:r>
              <a:rPr lang="en-IN" dirty="0"/>
              <a:t>VIZHALINI                -   711523BEE063</a:t>
            </a:r>
          </a:p>
          <a:p>
            <a:r>
              <a:rPr lang="en-IN" dirty="0"/>
              <a:t>ARUNKUMAR A      -   711523BEE302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CF673-E559-2090-B515-739982A8BBD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111B0D7-8B6F-361E-68A7-D309B813081F}"/>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27E2126C-7286-5996-387C-5D584DB74B10}"/>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708F4E65-E2DD-105B-7070-607A95ACC7D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4C698CB9-1E58-288A-E851-6A6FB6572F47}"/>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endParaRPr>
          </a:p>
          <a:p>
            <a:pPr algn="ctr"/>
            <a:r>
              <a:rPr lang="en-US" sz="2800" dirty="0">
                <a:solidFill>
                  <a:srgbClr val="0070C0"/>
                </a:solidFill>
                <a:latin typeface="+mn-ea"/>
                <a:cs typeface="+mn-ea"/>
                <a:sym typeface="+mn-ea"/>
              </a:rPr>
              <a:t>ABSTRACT</a:t>
            </a:r>
            <a:endParaRPr lang="en-US" dirty="0"/>
          </a:p>
        </p:txBody>
      </p:sp>
      <p:sp>
        <p:nvSpPr>
          <p:cNvPr id="6" name="Rectangle 1">
            <a:extLst>
              <a:ext uri="{FF2B5EF4-FFF2-40B4-BE49-F238E27FC236}">
                <a16:creationId xmlns:a16="http://schemas.microsoft.com/office/drawing/2014/main" id="{3D9D2BD2-C358-3141-1C97-45673F8CAF49}"/>
              </a:ext>
            </a:extLst>
          </p:cNvPr>
          <p:cNvSpPr>
            <a:spLocks noGrp="1" noChangeArrowheads="1"/>
          </p:cNvSpPr>
          <p:nvPr>
            <p:ph idx="1"/>
          </p:nvPr>
        </p:nvSpPr>
        <p:spPr bwMode="auto">
          <a:xfrm>
            <a:off x="1150763" y="2332064"/>
            <a:ext cx="9934870"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1600" dirty="0">
                <a:latin typeface="Times New Roman" panose="02020603050405020304" pitchFamily="18" charset="0"/>
                <a:cs typeface="Times New Roman" panose="02020603050405020304" pitchFamily="18" charset="0"/>
              </a:rPr>
              <a:t>The Internet of Things (IoT) has enabled the adoption of automated aeroponics equipment, which has transformed our understanding of horticulture. Aeroponics is a method of vegetative production that does not use soil. Plant cultivation takes place in an airborne or </a:t>
            </a:r>
            <a:r>
              <a:rPr lang="en-US" sz="1600" dirty="0" err="1">
                <a:latin typeface="Times New Roman" panose="02020603050405020304" pitchFamily="18" charset="0"/>
                <a:cs typeface="Times New Roman" panose="02020603050405020304" pitchFamily="18" charset="0"/>
              </a:rPr>
              <a:t>vapour</a:t>
            </a:r>
            <a:r>
              <a:rPr lang="en-US" sz="1600" dirty="0">
                <a:latin typeface="Times New Roman" panose="02020603050405020304" pitchFamily="18" charset="0"/>
                <a:cs typeface="Times New Roman" panose="02020603050405020304" pitchFamily="18" charset="0"/>
              </a:rPr>
              <a:t> environment. The use of Internet of Things (IoT)-enabled aeroponics devices allows farms to autonomously monitor and manage variables such as temperature, lighting, humidity, and </a:t>
            </a:r>
            <a:r>
              <a:rPr lang="en-US" sz="1600" dirty="0" err="1">
                <a:latin typeface="Times New Roman" panose="02020603050405020304" pitchFamily="18" charset="0"/>
                <a:cs typeface="Times New Roman" panose="02020603050405020304" pitchFamily="18" charset="0"/>
              </a:rPr>
              <a:t>fertiliser</a:t>
            </a:r>
            <a:r>
              <a:rPr lang="en-US" sz="1600" dirty="0">
                <a:latin typeface="Times New Roman" panose="02020603050405020304" pitchFamily="18" charset="0"/>
                <a:cs typeface="Times New Roman" panose="02020603050405020304" pitchFamily="18" charset="0"/>
              </a:rPr>
              <a:t> concentrations. This allows for real-time adjustments to be made to optimize plant growth and yield. The IoT-enabled automated aeroponics system utilizes sensors and actuators to collect data on environmental conditions and automate the delivery of nutrients and water to the plants. Additionally, the system can be programmed to send alerts and notifications to farmers in case of any irregularities or issues that require attention. This level of automation not only increases efficiency and productivity but also reduces the need for manual labor and minimizes resource wastage. The IoT-enabled automated aeroponics systems have the potential to revolutionize farming by providing a more sustainable and efficient method of crop production. The computer system uses environmental elements to evaluate the results of aeroponics studies. The decision was made to use an automated aeroponics methodology to develop maize plants. According to the findings of this study, applying this method could potentially reduce </a:t>
            </a:r>
            <a:r>
              <a:rPr lang="en-US" sz="1600" dirty="0" err="1">
                <a:latin typeface="Times New Roman" panose="02020603050405020304" pitchFamily="18" charset="0"/>
                <a:cs typeface="Times New Roman" panose="02020603050405020304" pitchFamily="18" charset="0"/>
              </a:rPr>
              <a:t>labour</a:t>
            </a:r>
            <a:r>
              <a:rPr lang="en-US" sz="1600" dirty="0">
                <a:latin typeface="Times New Roman" panose="02020603050405020304" pitchFamily="18" charset="0"/>
                <a:cs typeface="Times New Roman" panose="02020603050405020304" pitchFamily="18" charset="0"/>
              </a:rPr>
              <a:t> expenses while increasing the value of the product. </a:t>
            </a:r>
            <a:endParaRPr lang="en-US" altLang="en-US" sz="1600" dirty="0">
              <a:solidFill>
                <a:srgbClr val="002060"/>
              </a:solidFill>
              <a:latin typeface="Times New Roman" panose="02020603050405020304" pitchFamily="18" charset="0"/>
              <a:ea typeface="+mj-ea"/>
              <a:cs typeface="Times New Roman" panose="02020603050405020304" pitchFamily="18" charset="0"/>
            </a:endParaRPr>
          </a:p>
        </p:txBody>
      </p:sp>
      <p:sp>
        <p:nvSpPr>
          <p:cNvPr id="8" name="Text Box 25">
            <a:extLst>
              <a:ext uri="{FF2B5EF4-FFF2-40B4-BE49-F238E27FC236}">
                <a16:creationId xmlns:a16="http://schemas.microsoft.com/office/drawing/2014/main" id="{130256FF-BB4E-39F3-86DA-51AFA12743DB}"/>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070F2C93-8DAA-D961-1642-237B2E95F997}"/>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97452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F318-EE2E-31EC-6B80-F8CB53AB9CC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F4FD1770-B4F9-9F76-B521-CCF95995F4FE}"/>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2867219-95E1-F6E4-50B6-739ADD465825}"/>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E21366B2-776C-FD05-49D2-01CA538511F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C83630C3-408F-07B3-DBC5-EC744216E4D0}"/>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endParaRPr>
          </a:p>
          <a:p>
            <a:pPr algn="ctr"/>
            <a:r>
              <a:rPr lang="en-US" sz="2800" dirty="0">
                <a:solidFill>
                  <a:srgbClr val="0070C0"/>
                </a:solidFill>
                <a:latin typeface="+mn-ea"/>
                <a:cs typeface="+mn-ea"/>
                <a:sym typeface="+mn-ea"/>
              </a:rPr>
              <a:t>OBJECTIVE</a:t>
            </a:r>
            <a:endParaRPr lang="en-US" dirty="0"/>
          </a:p>
        </p:txBody>
      </p:sp>
      <p:sp>
        <p:nvSpPr>
          <p:cNvPr id="6" name="Rectangle 1">
            <a:extLst>
              <a:ext uri="{FF2B5EF4-FFF2-40B4-BE49-F238E27FC236}">
                <a16:creationId xmlns:a16="http://schemas.microsoft.com/office/drawing/2014/main" id="{12CA6504-A700-BD0F-8DA5-274BA538CB51}"/>
              </a:ext>
            </a:extLst>
          </p:cNvPr>
          <p:cNvSpPr>
            <a:spLocks noGrp="1" noChangeArrowheads="1"/>
          </p:cNvSpPr>
          <p:nvPr>
            <p:ph idx="1"/>
          </p:nvPr>
        </p:nvSpPr>
        <p:spPr bwMode="auto">
          <a:xfrm>
            <a:off x="943897" y="1309151"/>
            <a:ext cx="10141736" cy="460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endParaRPr lang="en-US" sz="1800" b="1" dirty="0"/>
          </a:p>
          <a:p>
            <a:pPr algn="just"/>
            <a:r>
              <a:rPr lang="en-US" sz="1800" b="1" dirty="0"/>
              <a:t>To design an IoT-integrated aeroponic system architecture</a:t>
            </a:r>
            <a:r>
              <a:rPr lang="en-US" sz="1800" dirty="0"/>
              <a:t> that enables real-time monitoring and control of key environmental parameters such as temperature, humidity, pH, light intensity, and water level through sensor-based data acquisition.</a:t>
            </a:r>
          </a:p>
          <a:p>
            <a:pPr algn="just"/>
            <a:r>
              <a:rPr lang="en-US" sz="1800" b="1" dirty="0"/>
              <a:t>To automate the nutrient and water delivery mechanisms</a:t>
            </a:r>
            <a:r>
              <a:rPr lang="en-US" sz="1800" dirty="0"/>
              <a:t> using actuators controlled by a microcontroller (Arduino UNO) and relay circuits, ensuring consistent misting and optimal root nourishment without human involvement.</a:t>
            </a:r>
          </a:p>
          <a:p>
            <a:pPr algn="just"/>
            <a:r>
              <a:rPr lang="en-US" sz="1800" b="1" dirty="0"/>
              <a:t>To implement a cloud-based data management and monitoring platform</a:t>
            </a:r>
            <a:r>
              <a:rPr lang="en-US" sz="1800" dirty="0"/>
              <a:t> using Wi-Fi modules (ESP8266) for remote access, visualization, and control via mobile or web applications.</a:t>
            </a:r>
          </a:p>
          <a:p>
            <a:pPr algn="just"/>
            <a:r>
              <a:rPr lang="en-US" sz="1800" b="1" dirty="0"/>
              <a:t>To enhance resource efficiency and sustainability</a:t>
            </a:r>
            <a:r>
              <a:rPr lang="en-US" sz="1800" dirty="0"/>
              <a:t> by reducing water consumption, minimizing fertilizer use, and lowering labor costs through automation and precision control.</a:t>
            </a:r>
          </a:p>
          <a:p>
            <a:pPr algn="just"/>
            <a:r>
              <a:rPr lang="en-US" sz="1800" b="1" dirty="0"/>
              <a:t>To evaluate system performance</a:t>
            </a:r>
            <a:r>
              <a:rPr lang="en-US" sz="1800" dirty="0"/>
              <a:t> using experimental crop growth (e.g., maize plants) under controlled aeroponic conditions and assess improvements in growth rate, yield, and environmental adaptability.</a:t>
            </a:r>
          </a:p>
          <a:p>
            <a:pPr algn="just"/>
            <a:r>
              <a:rPr lang="en-US" sz="1800" b="1" dirty="0"/>
              <a:t>To establish a scalable model</a:t>
            </a:r>
            <a:r>
              <a:rPr lang="en-US" sz="1800" dirty="0"/>
              <a:t> for smart urban and rural agriculture that integrates renewable energy sources and supports future advancements in AI- and machine-learning-based predictive farming.</a:t>
            </a:r>
          </a:p>
        </p:txBody>
      </p:sp>
      <p:sp>
        <p:nvSpPr>
          <p:cNvPr id="8" name="Text Box 25">
            <a:extLst>
              <a:ext uri="{FF2B5EF4-FFF2-40B4-BE49-F238E27FC236}">
                <a16:creationId xmlns:a16="http://schemas.microsoft.com/office/drawing/2014/main" id="{F99F7745-FFF5-12C4-43D5-C3533406F463}"/>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F47458F5-9097-F527-D84F-32C1147A451F}"/>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388675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4938-E325-9357-9171-0C7A286E84F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03FDF3C-1FF6-6A83-4F9D-FDA03DAA6C45}"/>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8F7B1B9-A40C-B4C3-F30C-70D6585001D8}"/>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5259193F-F9DB-4AF9-CE71-3A1ADAAF6E0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BC6260B-8C3C-EE52-7254-D96F20CC30C7}"/>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EXISTING SYSTEM</a:t>
            </a:r>
            <a:endParaRPr lang="en-US" dirty="0"/>
          </a:p>
        </p:txBody>
      </p:sp>
      <p:sp>
        <p:nvSpPr>
          <p:cNvPr id="8" name="Text Box 25">
            <a:extLst>
              <a:ext uri="{FF2B5EF4-FFF2-40B4-BE49-F238E27FC236}">
                <a16:creationId xmlns:a16="http://schemas.microsoft.com/office/drawing/2014/main" id="{0EC38265-8BFA-E345-086A-115FBAE00DB7}"/>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7EB613BF-27D6-FF77-4C19-A4AC36A85A6D}"/>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14" name="Rectangle 7">
            <a:extLst>
              <a:ext uri="{FF2B5EF4-FFF2-40B4-BE49-F238E27FC236}">
                <a16:creationId xmlns:a16="http://schemas.microsoft.com/office/drawing/2014/main" id="{7450A820-3CAD-0883-8444-57E5FE1D81F8}"/>
              </a:ext>
            </a:extLst>
          </p:cNvPr>
          <p:cNvSpPr>
            <a:spLocks noGrp="1" noChangeArrowheads="1"/>
          </p:cNvSpPr>
          <p:nvPr>
            <p:ph idx="1"/>
          </p:nvPr>
        </p:nvSpPr>
        <p:spPr bwMode="auto">
          <a:xfrm>
            <a:off x="1240544" y="995614"/>
            <a:ext cx="9845089"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existing systems use basic irrigation or timer-based watering mechanisms that lack real-time sensing and feedback control.</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Farmers must be physically present to monitor conditions and operate equipment, increasing labor effort and reducing convenience.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systems often use limited sensors that measure only soil moisture or temperature, without monitoring other vital factors like pH, humidity, or nutrient concentration.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no centralized data collection or cloud storage, making it difficult to track environmental data or optimize farming decisions over time.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nutrient and water management can lead to wastage of resources and uneven plant growth.</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aeroponic systems (without IoT integration) depend on manual control of misting and nutrient cycles, lacking automation and precision.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are no alert or notification systems to inform users about irregularities such as low water levels, pump failures, or unfavorable environmental changes.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Due to these limitations, existing systems are inefficient, labor-intensive, and unsustainable, resulting in lower productivity and resource wastage.</a:t>
            </a:r>
          </a:p>
        </p:txBody>
      </p:sp>
    </p:spTree>
    <p:extLst>
      <p:ext uri="{BB962C8B-B14F-4D97-AF65-F5344CB8AC3E}">
        <p14:creationId xmlns:p14="http://schemas.microsoft.com/office/powerpoint/2010/main" val="2491840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2A2F-723A-C375-5074-C848F461F790}"/>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8FADF42-668E-77BD-BD7B-31804E57A909}"/>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B373B68F-F041-CC45-B9CC-FA9DE06011A8}"/>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5673EFAB-9EBE-703B-BDB7-02A8B9ECEA9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C943D8F-89C3-557B-8AF8-1C794F2C8607}"/>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PROPOSED  SYSTEM </a:t>
            </a:r>
            <a:endParaRPr lang="en-US" dirty="0"/>
          </a:p>
        </p:txBody>
      </p:sp>
      <p:sp>
        <p:nvSpPr>
          <p:cNvPr id="8" name="Text Box 25">
            <a:extLst>
              <a:ext uri="{FF2B5EF4-FFF2-40B4-BE49-F238E27FC236}">
                <a16:creationId xmlns:a16="http://schemas.microsoft.com/office/drawing/2014/main" id="{54051441-CF4B-C09C-9EDD-DC6059728D52}"/>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50A2D022-3702-333C-E1E8-94651819BE21}"/>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10" name="Rectangle 3">
            <a:extLst>
              <a:ext uri="{FF2B5EF4-FFF2-40B4-BE49-F238E27FC236}">
                <a16:creationId xmlns:a16="http://schemas.microsoft.com/office/drawing/2014/main" id="{51CC9310-AB26-CF07-51B8-BCEBFAA3369A}"/>
              </a:ext>
            </a:extLst>
          </p:cNvPr>
          <p:cNvSpPr>
            <a:spLocks noGrp="1" noChangeArrowheads="1"/>
          </p:cNvSpPr>
          <p:nvPr>
            <p:ph idx="1"/>
          </p:nvPr>
        </p:nvSpPr>
        <p:spPr bwMode="auto">
          <a:xfrm>
            <a:off x="796413" y="1091011"/>
            <a:ext cx="1056827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 Control Unit:</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an Arduino UNO as the main controller to process sensor data and manage all automated operations.</a:t>
            </a:r>
          </a:p>
          <a:p>
            <a:pPr marL="0" lvl="0" indent="0" eaLnBrk="0" fontAlgn="base" hangingPunct="0">
              <a:lnSpc>
                <a:spcPct val="100000"/>
              </a:lnSpc>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IoT Connectivity: An ESP8266 Wi-Fi module connects the system to the internet, enabling real-time data transmission and remote control.</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Integration:</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Sensors like DHT11 (humidity), NTC Thermistor (temperature), LDR (light), pH sensor, and water level sensor continuously monitor the environment.</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Processing: The Arduino converts analog readings into digital values and compares them with predefined thresholds for decision-making.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Control Actions: Based on sensor inputs, relays activate devices such as fans, pumps, or lights to maintain optimal growing conditions.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 The system displays live readings on an LCD screen and allows remote monitoring through a mobile app or web dashboard.</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Alerts:Users</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receive notifications if any parameter goes beyond safe limits, ensuring quick corrective actions.</a:t>
            </a:r>
          </a:p>
        </p:txBody>
      </p:sp>
    </p:spTree>
    <p:extLst>
      <p:ext uri="{BB962C8B-B14F-4D97-AF65-F5344CB8AC3E}">
        <p14:creationId xmlns:p14="http://schemas.microsoft.com/office/powerpoint/2010/main" val="898339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6EFFA-F799-370F-F172-91F7D5CB837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925B6F-C0E6-E038-518B-9641025A4213}"/>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20E6001E-B967-4DE1-C830-3A4D1F3C0DE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5706C0BB-5302-7298-D451-C1826EBB28EB}"/>
              </a:ext>
            </a:extLst>
          </p:cNvPr>
          <p:cNvSpPr txBox="1"/>
          <p:nvPr/>
        </p:nvSpPr>
        <p:spPr>
          <a:xfrm>
            <a:off x="1195159"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BLOCK DIAGRAM </a:t>
            </a:r>
            <a:endParaRPr lang="en-US" dirty="0"/>
          </a:p>
        </p:txBody>
      </p:sp>
      <p:sp>
        <p:nvSpPr>
          <p:cNvPr id="8" name="Text Box 25">
            <a:extLst>
              <a:ext uri="{FF2B5EF4-FFF2-40B4-BE49-F238E27FC236}">
                <a16:creationId xmlns:a16="http://schemas.microsoft.com/office/drawing/2014/main" id="{2DD109CA-6C3D-7945-AD48-A3F1FFB663CD}"/>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60AC7B51-BAC7-E291-C9DE-7A32ACDB0D16}"/>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10" name="Rectangle 1">
            <a:extLst>
              <a:ext uri="{FF2B5EF4-FFF2-40B4-BE49-F238E27FC236}">
                <a16:creationId xmlns:a16="http://schemas.microsoft.com/office/drawing/2014/main" id="{AFA1520C-A3DC-1CB4-1B27-20784A598775}"/>
              </a:ext>
            </a:extLst>
          </p:cNvPr>
          <p:cNvSpPr txBox="1">
            <a:spLocks noChangeArrowheads="1"/>
          </p:cNvSpPr>
          <p:nvPr/>
        </p:nvSpPr>
        <p:spPr bwMode="auto">
          <a:xfrm>
            <a:off x="2931413" y="1949688"/>
            <a:ext cx="989047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Font typeface="Arial" panose="020B0604020202020204" pitchFamily="34" charset="0"/>
              <a:buNone/>
            </a:pPr>
            <a:endParaRPr lang="en-US" altLang="en-US" sz="1600">
              <a:ln>
                <a:solidFill>
                  <a:schemeClr val="tx1">
                    <a:lumMod val="95000"/>
                    <a:lumOff val="5000"/>
                  </a:schemeClr>
                </a:solidFill>
              </a:ln>
              <a:latin typeface="Times New Roman" panose="02020603050405020304" pitchFamily="18" charset="0"/>
              <a:ea typeface="+mj-ea"/>
              <a:cs typeface="Times New Roman" panose="02020603050405020304" pitchFamily="18" charset="0"/>
            </a:endParaRPr>
          </a:p>
          <a:p>
            <a:pPr marL="0" indent="0" fontAlgn="base">
              <a:spcBef>
                <a:spcPct val="0"/>
              </a:spcBef>
              <a:spcAft>
                <a:spcPct val="0"/>
              </a:spcAft>
              <a:buFont typeface="Arial" panose="020B0604020202020204" pitchFamily="34" charset="0"/>
              <a:buNone/>
            </a:pPr>
            <a:endParaRPr lang="en-US" altLang="en-US" sz="3200" dirty="0">
              <a:ln>
                <a:solidFill>
                  <a:schemeClr val="tx1">
                    <a:lumMod val="95000"/>
                    <a:lumOff val="5000"/>
                  </a:schemeClr>
                </a:solidFill>
              </a:ln>
              <a:solidFill>
                <a:srgbClr val="002060"/>
              </a:solidFill>
              <a:ea typeface="+mj-ea"/>
              <a:cs typeface="Times New Roman" panose="02020603050405020304" pitchFamily="18" charset="0"/>
            </a:endParaRPr>
          </a:p>
        </p:txBody>
      </p:sp>
      <p:pic>
        <p:nvPicPr>
          <p:cNvPr id="23" name="Picture 22">
            <a:extLst>
              <a:ext uri="{FF2B5EF4-FFF2-40B4-BE49-F238E27FC236}">
                <a16:creationId xmlns:a16="http://schemas.microsoft.com/office/drawing/2014/main" id="{77F6A985-983E-1C8B-0DFC-FBA27EF03EC8}"/>
              </a:ext>
            </a:extLst>
          </p:cNvPr>
          <p:cNvPicPr>
            <a:picLocks noChangeAspect="1"/>
          </p:cNvPicPr>
          <p:nvPr/>
        </p:nvPicPr>
        <p:blipFill>
          <a:blip r:embed="rId5"/>
          <a:stretch>
            <a:fillRect/>
          </a:stretch>
        </p:blipFill>
        <p:spPr>
          <a:xfrm>
            <a:off x="2116428" y="1100847"/>
            <a:ext cx="7959144" cy="4656306"/>
          </a:xfrm>
          <a:prstGeom prst="rect">
            <a:avLst/>
          </a:prstGeom>
        </p:spPr>
      </p:pic>
    </p:spTree>
    <p:extLst>
      <p:ext uri="{BB962C8B-B14F-4D97-AF65-F5344CB8AC3E}">
        <p14:creationId xmlns:p14="http://schemas.microsoft.com/office/powerpoint/2010/main" val="1409427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3DE0-9A3B-8316-C207-9695DC43D12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7AF013E2-E7A0-2611-5B04-6961BCF3C47F}"/>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398EC65-EE6B-B286-4DF4-7BC72122994E}"/>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CA12D983-AAA7-D2F5-1E5A-CA9D79F8721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8119C55-9ACB-1285-4230-E13D78C32F5D}"/>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COMPONENTS USED  </a:t>
            </a:r>
            <a:endParaRPr lang="en-US" dirty="0"/>
          </a:p>
        </p:txBody>
      </p:sp>
      <p:sp>
        <p:nvSpPr>
          <p:cNvPr id="8" name="Text Box 25">
            <a:extLst>
              <a:ext uri="{FF2B5EF4-FFF2-40B4-BE49-F238E27FC236}">
                <a16:creationId xmlns:a16="http://schemas.microsoft.com/office/drawing/2014/main" id="{0BFAA30A-A998-5B8D-3F44-7CF26C0A5F13}"/>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6FF69B6F-107A-5096-620F-F470100E52B5}"/>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itle 1">
            <a:extLst>
              <a:ext uri="{FF2B5EF4-FFF2-40B4-BE49-F238E27FC236}">
                <a16:creationId xmlns:a16="http://schemas.microsoft.com/office/drawing/2014/main" id="{D5A80A1A-8CED-F116-FF01-470C6F2AF3D4}"/>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9" name="Title 1">
            <a:extLst>
              <a:ext uri="{FF2B5EF4-FFF2-40B4-BE49-F238E27FC236}">
                <a16:creationId xmlns:a16="http://schemas.microsoft.com/office/drawing/2014/main" id="{6AB0616A-FB1F-0090-2C6A-6B21B883E5C4}"/>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9" name="TextBox 28">
            <a:extLst>
              <a:ext uri="{FF2B5EF4-FFF2-40B4-BE49-F238E27FC236}">
                <a16:creationId xmlns:a16="http://schemas.microsoft.com/office/drawing/2014/main" id="{889EB5C9-20E9-E108-0E52-E9338F59E259}"/>
              </a:ext>
            </a:extLst>
          </p:cNvPr>
          <p:cNvSpPr txBox="1"/>
          <p:nvPr/>
        </p:nvSpPr>
        <p:spPr>
          <a:xfrm>
            <a:off x="2889813" y="2854551"/>
            <a:ext cx="6412374" cy="464871"/>
          </a:xfrm>
          <a:prstGeom prst="rect">
            <a:avLst/>
          </a:prstGeom>
          <a:noFill/>
        </p:spPr>
        <p:txBody>
          <a:bodyPr wrap="square">
            <a:spAutoFit/>
          </a:bodyPr>
          <a:lstStyle/>
          <a:p>
            <a:pPr>
              <a:lnSpc>
                <a:spcPct val="150000"/>
              </a:lnSpc>
            </a:pPr>
            <a:endParaRPr lang="en-IN" dirty="0"/>
          </a:p>
        </p:txBody>
      </p:sp>
      <p:sp>
        <p:nvSpPr>
          <p:cNvPr id="14" name="Rectangle 5">
            <a:extLst>
              <a:ext uri="{FF2B5EF4-FFF2-40B4-BE49-F238E27FC236}">
                <a16:creationId xmlns:a16="http://schemas.microsoft.com/office/drawing/2014/main" id="{DB0488B8-BDC2-962F-AC31-ABD38A9A96E5}"/>
              </a:ext>
            </a:extLst>
          </p:cNvPr>
          <p:cNvSpPr>
            <a:spLocks noChangeArrowheads="1"/>
          </p:cNvSpPr>
          <p:nvPr/>
        </p:nvSpPr>
        <p:spPr bwMode="auto">
          <a:xfrm>
            <a:off x="1800701" y="2878276"/>
            <a:ext cx="8224014" cy="417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CCA5AFC0-9BE4-3C10-D96B-FE5B8308CFCB}"/>
              </a:ext>
            </a:extLst>
          </p:cNvPr>
          <p:cNvSpPr>
            <a:spLocks noChangeArrowheads="1"/>
          </p:cNvSpPr>
          <p:nvPr/>
        </p:nvSpPr>
        <p:spPr bwMode="auto">
          <a:xfrm>
            <a:off x="1195159" y="1469300"/>
            <a:ext cx="9950246"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UNO:</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Acts as the main control unit that receives data from all sensors, processes it, and controls relays and IoT communication.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Temperature Sensor:</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the surrounding air temperature to ensure plants grow within optimal thermal conditions.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Humidity Sensor (DHT11):</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Monitors air moisture levels and helps maintain the ideal humidity by controlling the fan or misting pump.</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Water Level Sensor:</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Detects the level of nutrient solution in the aeroponics tank and activates the pump when the level is low.</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LDR Sensor (Light Dependent Resistor):</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Senses the intensity of light and triggers artificial lighting when natural light is insufficient.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 Sensor:</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Monitors the pH value of the nutrient solution to ensure balanced acidity and better nutrient absorption.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Fan:</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turns on to regulate temperature and maintain airflow inside the aeroponic environment.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Light (LED Lamp):</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artificial illumination for photosynthesis when the ambient light level is low.</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Pump (Aeroponics Tank):</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Sprays nutrient-rich mist directly to plant roots and maintains constant moisture in the system.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Module (ESP8266):</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wireless connectivity to transmit sensor data and control commands through the internet.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LCD Display:</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real-time sensor readings such as temperature, humidity, light intensity, water level, and pH value.</a:t>
            </a:r>
          </a:p>
        </p:txBody>
      </p:sp>
    </p:spTree>
    <p:extLst>
      <p:ext uri="{BB962C8B-B14F-4D97-AF65-F5344CB8AC3E}">
        <p14:creationId xmlns:p14="http://schemas.microsoft.com/office/powerpoint/2010/main" val="3986209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BB4AB-EA3D-A79F-2C55-8862ABC8DD66}"/>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9F2EF28-C023-2B5F-6F5E-D7545791F83C}"/>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3CAA3794-79A0-C69C-A07D-DBD58359F08C}"/>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6F8D7671-C4E1-6285-A8B4-AF92C14102D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FF837EE-B192-56DC-A542-38526D201155}"/>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APPLICATION </a:t>
            </a:r>
            <a:endParaRPr lang="en-US" dirty="0"/>
          </a:p>
        </p:txBody>
      </p:sp>
      <p:sp>
        <p:nvSpPr>
          <p:cNvPr id="8" name="Text Box 25">
            <a:extLst>
              <a:ext uri="{FF2B5EF4-FFF2-40B4-BE49-F238E27FC236}">
                <a16:creationId xmlns:a16="http://schemas.microsoft.com/office/drawing/2014/main" id="{A864FE2F-3BFD-2495-37C2-EDCF645CB674}"/>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CDE9DDB3-29BE-12F8-6438-9FE1434BAAA2}"/>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6" name="Rectangle 1">
            <a:extLst>
              <a:ext uri="{FF2B5EF4-FFF2-40B4-BE49-F238E27FC236}">
                <a16:creationId xmlns:a16="http://schemas.microsoft.com/office/drawing/2014/main" id="{92AC377D-02C1-56B3-ED51-FDC59FF78517}"/>
              </a:ext>
            </a:extLst>
          </p:cNvPr>
          <p:cNvSpPr>
            <a:spLocks noGrp="1" noChangeArrowheads="1"/>
          </p:cNvSpPr>
          <p:nvPr>
            <p:ph sz="half" idx="1"/>
          </p:nvPr>
        </p:nvSpPr>
        <p:spPr bwMode="auto">
          <a:xfrm>
            <a:off x="881063" y="1670950"/>
            <a:ext cx="1042603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Greenhouses:</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implemented in automated greenhouse environments for efficient crop monitoring and control.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Urban and Indoor Farming:</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Suitable for vertical farms, rooftop gardens, and indoor cultivation in urban spaces.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Agricultural Research Centers: Used for testing plant growth conditions and studying nutrient efficiency in controlled environments.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Commercial Crop Production:</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Ideal for growing high-value crops like herbs, leafy vegetables, and strawberries.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 and Training Institutions:</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as a learning tool for IoT, automation, and sustainable agriculture technologies.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Home Gardening Systems:</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miniaturized for personal or home-based smart farming applications.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Farm Monitoring:</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farmers to manage multiple farming sites through centralized IoT platforms.</a:t>
            </a:r>
          </a:p>
        </p:txBody>
      </p:sp>
    </p:spTree>
    <p:extLst>
      <p:ext uri="{BB962C8B-B14F-4D97-AF65-F5344CB8AC3E}">
        <p14:creationId xmlns:p14="http://schemas.microsoft.com/office/powerpoint/2010/main" val="107124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216BC-E698-900A-2905-D5CE093C73F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46F43879-6821-839A-6D02-34CE2AE6A49F}"/>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4F2ED3BA-7A70-2A84-93FC-86EF7CD9224F}"/>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BE9EC8AF-54C6-32DE-9C96-29086516656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7B01FCB7-D973-A749-5D84-AAF3BE6938E7}"/>
              </a:ext>
            </a:extLst>
          </p:cNvPr>
          <p:cNvSpPr txBox="1"/>
          <p:nvPr/>
        </p:nvSpPr>
        <p:spPr>
          <a:xfrm>
            <a:off x="1340708" y="-73615"/>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US" sz="4000" dirty="0">
                <a:solidFill>
                  <a:srgbClr val="0070C0"/>
                </a:solidFill>
                <a:latin typeface="+mn-ea"/>
                <a:cs typeface="+mn-ea"/>
                <a:sym typeface="+mn-ea"/>
              </a:rPr>
              <a:t>Literature Survey</a:t>
            </a:r>
            <a:endParaRPr lang="en-US" dirty="0">
              <a:solidFill>
                <a:srgbClr val="0070C0"/>
              </a:solidFill>
            </a:endParaRPr>
          </a:p>
          <a:p>
            <a:endParaRPr lang="en-US" dirty="0"/>
          </a:p>
          <a:p>
            <a:endParaRPr lang="en-US" dirty="0"/>
          </a:p>
        </p:txBody>
      </p:sp>
      <p:graphicFrame>
        <p:nvGraphicFramePr>
          <p:cNvPr id="9" name="Content Placeholder 8">
            <a:extLst>
              <a:ext uri="{FF2B5EF4-FFF2-40B4-BE49-F238E27FC236}">
                <a16:creationId xmlns:a16="http://schemas.microsoft.com/office/drawing/2014/main" id="{37A8F930-F9EE-C169-729A-5B0C85D30028}"/>
              </a:ext>
            </a:extLst>
          </p:cNvPr>
          <p:cNvGraphicFramePr>
            <a:graphicFrameLocks noGrp="1"/>
          </p:cNvGraphicFramePr>
          <p:nvPr>
            <p:ph idx="1"/>
            <p:extLst>
              <p:ext uri="{D42A27DB-BD31-4B8C-83A1-F6EECF244321}">
                <p14:modId xmlns:p14="http://schemas.microsoft.com/office/powerpoint/2010/main" val="3924688369"/>
              </p:ext>
            </p:extLst>
          </p:nvPr>
        </p:nvGraphicFramePr>
        <p:xfrm>
          <a:off x="838270" y="1072286"/>
          <a:ext cx="10423780" cy="5012696"/>
        </p:xfrm>
        <a:graphic>
          <a:graphicData uri="http://schemas.openxmlformats.org/drawingml/2006/table">
            <a:tbl>
              <a:tblPr firstRow="1" bandRow="1">
                <a:tableStyleId>{93296810-A885-4BE3-A3E7-6D5BEEA58F35}</a:tableStyleId>
              </a:tblPr>
              <a:tblGrid>
                <a:gridCol w="2084756">
                  <a:extLst>
                    <a:ext uri="{9D8B030D-6E8A-4147-A177-3AD203B41FA5}">
                      <a16:colId xmlns:a16="http://schemas.microsoft.com/office/drawing/2014/main" val="2991403296"/>
                    </a:ext>
                  </a:extLst>
                </a:gridCol>
                <a:gridCol w="2084756">
                  <a:extLst>
                    <a:ext uri="{9D8B030D-6E8A-4147-A177-3AD203B41FA5}">
                      <a16:colId xmlns:a16="http://schemas.microsoft.com/office/drawing/2014/main" val="3644193846"/>
                    </a:ext>
                  </a:extLst>
                </a:gridCol>
                <a:gridCol w="1887540">
                  <a:extLst>
                    <a:ext uri="{9D8B030D-6E8A-4147-A177-3AD203B41FA5}">
                      <a16:colId xmlns:a16="http://schemas.microsoft.com/office/drawing/2014/main" val="1036794660"/>
                    </a:ext>
                  </a:extLst>
                </a:gridCol>
                <a:gridCol w="2289318">
                  <a:extLst>
                    <a:ext uri="{9D8B030D-6E8A-4147-A177-3AD203B41FA5}">
                      <a16:colId xmlns:a16="http://schemas.microsoft.com/office/drawing/2014/main" val="3282508274"/>
                    </a:ext>
                  </a:extLst>
                </a:gridCol>
                <a:gridCol w="2077410">
                  <a:extLst>
                    <a:ext uri="{9D8B030D-6E8A-4147-A177-3AD203B41FA5}">
                      <a16:colId xmlns:a16="http://schemas.microsoft.com/office/drawing/2014/main" val="1729313586"/>
                    </a:ext>
                  </a:extLst>
                </a:gridCol>
              </a:tblGrid>
              <a:tr h="726034">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YEAR</a:t>
                      </a:r>
                    </a:p>
                  </a:txBody>
                  <a:tcPr/>
                </a:tc>
                <a:tc>
                  <a:txBody>
                    <a:bodyPr/>
                    <a:lstStyle/>
                    <a:p>
                      <a:pPr algn="ctr"/>
                      <a:r>
                        <a:rPr lang="en-IN" dirty="0"/>
                        <a:t>METHODOLOGY</a:t>
                      </a:r>
                    </a:p>
                  </a:txBody>
                  <a:tcPr/>
                </a:tc>
                <a:tc>
                  <a:txBody>
                    <a:bodyPr/>
                    <a:lstStyle/>
                    <a:p>
                      <a:pPr algn="ctr"/>
                      <a:r>
                        <a:rPr lang="en-IN" dirty="0"/>
                        <a:t>SUMMARY</a:t>
                      </a:r>
                    </a:p>
                  </a:txBody>
                  <a:tcPr/>
                </a:tc>
                <a:extLst>
                  <a:ext uri="{0D108BD9-81ED-4DB2-BD59-A6C34878D82A}">
                    <a16:rowId xmlns:a16="http://schemas.microsoft.com/office/drawing/2014/main" val="4167788868"/>
                  </a:ext>
                </a:extLst>
              </a:tr>
              <a:tr h="2282792">
                <a:tc>
                  <a:txBody>
                    <a:bodyPr/>
                    <a:lstStyle/>
                    <a:p>
                      <a:r>
                        <a:rPr lang="en-US" sz="1600" dirty="0"/>
                        <a:t>Dew Aeroponics: Dew-Enabled Smart Aeroponics System</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1" dirty="0"/>
                        <a:t>B. Ghosh et al.</a:t>
                      </a:r>
                      <a:r>
                        <a:rPr lang="en-US" sz="1600" dirty="0"/>
                        <a:t> </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 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Developed an IoT-based aeroponic model that utilizes dew collection and humidity sensors to maintain plant growth without soil. Automated misting and monitoring were controlled through cloud platforms for efficiency.</a:t>
                      </a:r>
                      <a:endParaRPr lang="en-US" sz="1400" dirty="0">
                        <a:latin typeface="Times New Roman" panose="02020603050405020304" pitchFamily="18" charset="0"/>
                        <a:cs typeface="Times New Roman" panose="02020603050405020304" pitchFamily="18" charset="0"/>
                      </a:endParaRPr>
                    </a:p>
                    <a:p>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400" dirty="0"/>
                        <a:t>Demonstrated how dew and IoT technology can be integrated to optimize water usage and humidity control, forming a strong foundation for smart aeroponic systems</a:t>
                      </a:r>
                      <a:endParaRPr lang="en-US" sz="13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3809156"/>
                  </a:ext>
                </a:extLst>
              </a:tr>
              <a:tr h="2003870">
                <a:tc>
                  <a:txBody>
                    <a:bodyPr/>
                    <a:lstStyle/>
                    <a:p>
                      <a:r>
                        <a:rPr lang="en-US" sz="1600" b="0" dirty="0">
                          <a:latin typeface="Times New Roman" panose="02020603050405020304" pitchFamily="18" charset="0"/>
                          <a:cs typeface="Times New Roman" panose="02020603050405020304" pitchFamily="18" charset="0"/>
                        </a:rPr>
                        <a:t>Viable Smart Sensors for Data-Driven Agriculture</a:t>
                      </a:r>
                    </a:p>
                  </a:txBody>
                  <a:tcPr/>
                </a:tc>
                <a:tc>
                  <a:txBody>
                    <a:bodyPr/>
                    <a:lstStyle/>
                    <a:p>
                      <a:r>
                        <a:rPr lang="en-US" sz="1600" b="1" dirty="0"/>
                        <a:t>K. Paul et al. (2022) </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2022</a:t>
                      </a:r>
                    </a:p>
                  </a:txBody>
                  <a:tcPr/>
                </a:tc>
                <a:tc>
                  <a:txBody>
                    <a:bodyPr/>
                    <a:lstStyle/>
                    <a:p>
                      <a:r>
                        <a:rPr lang="en-US" sz="1400" dirty="0"/>
                        <a:t>Implemented a network of intelligent sensors to measure environmental parameters like temperature, humidity, and nutrient concentration, transmitting data for real-time analysis.</a:t>
                      </a:r>
                      <a:endParaRPr lang="en-IN" sz="13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Showed how precision sensors improve agricultural monitoring, supporting accurate control mechanisms similar to those in IoT-based aeroponics.</a:t>
                      </a:r>
                    </a:p>
                    <a:p>
                      <a:endParaRPr lang="en-IN"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9809562"/>
                  </a:ext>
                </a:extLst>
              </a:tr>
            </a:tbl>
          </a:graphicData>
        </a:graphic>
      </p:graphicFrame>
      <p:sp>
        <p:nvSpPr>
          <p:cNvPr id="7" name="Text Box 25">
            <a:extLst>
              <a:ext uri="{FF2B5EF4-FFF2-40B4-BE49-F238E27FC236}">
                <a16:creationId xmlns:a16="http://schemas.microsoft.com/office/drawing/2014/main" id="{74889F23-8DF0-8BE7-0492-D0700A59ADD3}"/>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FF6BB1CD-5627-2240-A629-D0E75BE4B3B4}"/>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17775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6845B-92CF-54A9-D521-F3BB49893EFA}"/>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F41CDA9-9A3F-10D0-A909-47733C474230}"/>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5BF910F8-3DC8-E123-1834-1DCE338F3251}"/>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DC57532E-8C73-F79E-6F51-DE1862C695A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0C2BA1E-14FB-7E2C-5E13-CE7E5E548BF7}"/>
              </a:ext>
            </a:extLst>
          </p:cNvPr>
          <p:cNvSpPr txBox="1"/>
          <p:nvPr/>
        </p:nvSpPr>
        <p:spPr>
          <a:xfrm>
            <a:off x="1340708" y="-73615"/>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US" sz="4000" dirty="0">
                <a:solidFill>
                  <a:srgbClr val="0070C0"/>
                </a:solidFill>
                <a:latin typeface="+mn-ea"/>
                <a:cs typeface="+mn-ea"/>
                <a:sym typeface="+mn-ea"/>
              </a:rPr>
              <a:t>Literature Survey</a:t>
            </a:r>
            <a:endParaRPr lang="en-US" dirty="0">
              <a:solidFill>
                <a:srgbClr val="0070C0"/>
              </a:solidFill>
            </a:endParaRPr>
          </a:p>
          <a:p>
            <a:endParaRPr lang="en-US" dirty="0"/>
          </a:p>
          <a:p>
            <a:endParaRPr lang="en-US" dirty="0"/>
          </a:p>
        </p:txBody>
      </p:sp>
      <p:graphicFrame>
        <p:nvGraphicFramePr>
          <p:cNvPr id="9" name="Content Placeholder 8">
            <a:extLst>
              <a:ext uri="{FF2B5EF4-FFF2-40B4-BE49-F238E27FC236}">
                <a16:creationId xmlns:a16="http://schemas.microsoft.com/office/drawing/2014/main" id="{DF261C38-CDCF-A4F9-28AF-44750FF3E0FC}"/>
              </a:ext>
            </a:extLst>
          </p:cNvPr>
          <p:cNvGraphicFramePr>
            <a:graphicFrameLocks noGrp="1"/>
          </p:cNvGraphicFramePr>
          <p:nvPr>
            <p:ph idx="1"/>
            <p:extLst>
              <p:ext uri="{D42A27DB-BD31-4B8C-83A1-F6EECF244321}">
                <p14:modId xmlns:p14="http://schemas.microsoft.com/office/powerpoint/2010/main" val="277660527"/>
              </p:ext>
            </p:extLst>
          </p:nvPr>
        </p:nvGraphicFramePr>
        <p:xfrm>
          <a:off x="838270" y="1072286"/>
          <a:ext cx="10423780" cy="2983528"/>
        </p:xfrm>
        <a:graphic>
          <a:graphicData uri="http://schemas.openxmlformats.org/drawingml/2006/table">
            <a:tbl>
              <a:tblPr firstRow="1" bandRow="1">
                <a:tableStyleId>{93296810-A885-4BE3-A3E7-6D5BEEA58F35}</a:tableStyleId>
              </a:tblPr>
              <a:tblGrid>
                <a:gridCol w="2084756">
                  <a:extLst>
                    <a:ext uri="{9D8B030D-6E8A-4147-A177-3AD203B41FA5}">
                      <a16:colId xmlns:a16="http://schemas.microsoft.com/office/drawing/2014/main" val="2991403296"/>
                    </a:ext>
                  </a:extLst>
                </a:gridCol>
                <a:gridCol w="2084756">
                  <a:extLst>
                    <a:ext uri="{9D8B030D-6E8A-4147-A177-3AD203B41FA5}">
                      <a16:colId xmlns:a16="http://schemas.microsoft.com/office/drawing/2014/main" val="3644193846"/>
                    </a:ext>
                  </a:extLst>
                </a:gridCol>
                <a:gridCol w="1887540">
                  <a:extLst>
                    <a:ext uri="{9D8B030D-6E8A-4147-A177-3AD203B41FA5}">
                      <a16:colId xmlns:a16="http://schemas.microsoft.com/office/drawing/2014/main" val="1036794660"/>
                    </a:ext>
                  </a:extLst>
                </a:gridCol>
                <a:gridCol w="2281972">
                  <a:extLst>
                    <a:ext uri="{9D8B030D-6E8A-4147-A177-3AD203B41FA5}">
                      <a16:colId xmlns:a16="http://schemas.microsoft.com/office/drawing/2014/main" val="3282508274"/>
                    </a:ext>
                  </a:extLst>
                </a:gridCol>
                <a:gridCol w="2084756">
                  <a:extLst>
                    <a:ext uri="{9D8B030D-6E8A-4147-A177-3AD203B41FA5}">
                      <a16:colId xmlns:a16="http://schemas.microsoft.com/office/drawing/2014/main" val="1729313586"/>
                    </a:ext>
                  </a:extLst>
                </a:gridCol>
              </a:tblGrid>
              <a:tr h="802234">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YEAR</a:t>
                      </a:r>
                    </a:p>
                  </a:txBody>
                  <a:tcPr/>
                </a:tc>
                <a:tc>
                  <a:txBody>
                    <a:bodyPr/>
                    <a:lstStyle/>
                    <a:p>
                      <a:pPr algn="ctr"/>
                      <a:r>
                        <a:rPr lang="en-IN" dirty="0"/>
                        <a:t>METHODOLOGY</a:t>
                      </a:r>
                    </a:p>
                  </a:txBody>
                  <a:tcPr/>
                </a:tc>
                <a:tc>
                  <a:txBody>
                    <a:bodyPr/>
                    <a:lstStyle/>
                    <a:p>
                      <a:pPr algn="ctr"/>
                      <a:r>
                        <a:rPr lang="en-IN" dirty="0"/>
                        <a:t>SUMMARY</a:t>
                      </a:r>
                    </a:p>
                  </a:txBody>
                  <a:tcPr/>
                </a:tc>
                <a:extLst>
                  <a:ext uri="{0D108BD9-81ED-4DB2-BD59-A6C34878D82A}">
                    <a16:rowId xmlns:a16="http://schemas.microsoft.com/office/drawing/2014/main" val="4167788868"/>
                  </a:ext>
                </a:extLst>
              </a:tr>
              <a:tr h="2181294">
                <a:tc>
                  <a:txBody>
                    <a:bodyPr/>
                    <a:lstStyle/>
                    <a:p>
                      <a:r>
                        <a:rPr lang="en-US" b="0" dirty="0"/>
                        <a:t>Sensor-Based </a:t>
                      </a:r>
                      <a:r>
                        <a:rPr lang="en-US" b="0" dirty="0" err="1"/>
                        <a:t>Agribot</a:t>
                      </a:r>
                      <a:r>
                        <a:rPr lang="en-US" b="0" dirty="0"/>
                        <a:t> for Agriculture</a:t>
                      </a:r>
                    </a:p>
                    <a:p>
                      <a:r>
                        <a:rPr lang="en-US" b="0" dirty="0"/>
                        <a:t>Methodology</a:t>
                      </a:r>
                    </a:p>
                    <a:p>
                      <a:endParaRPr lang="en-IN" sz="1800" dirty="0">
                        <a:latin typeface="Times New Roman" panose="02020603050405020304" pitchFamily="18" charset="0"/>
                        <a:cs typeface="Times New Roman" panose="02020603050405020304" pitchFamily="18" charset="0"/>
                      </a:endParaRPr>
                    </a:p>
                  </a:txBody>
                  <a:tcPr/>
                </a:tc>
                <a:tc>
                  <a:txBody>
                    <a:bodyPr/>
                    <a:lstStyle/>
                    <a:p>
                      <a:r>
                        <a:rPr lang="en-US" b="1" dirty="0"/>
                        <a:t>S. Sathesh et al. </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2023</a:t>
                      </a:r>
                    </a:p>
                  </a:txBody>
                  <a:tcPr/>
                </a:tc>
                <a:tc>
                  <a:txBody>
                    <a:bodyPr/>
                    <a:lstStyle/>
                    <a:p>
                      <a:r>
                        <a:rPr lang="en-US" sz="1400" dirty="0"/>
                        <a:t>Designed a robot using IoT sensors to automate farming tasks such as seeding, irrigation, and monitoring.</a:t>
                      </a:r>
                      <a:endParaRPr lang="en-IN" sz="13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Proved that robotics and IoT integration minimize human labor—complementing the automation goals of aeroponics.</a:t>
                      </a:r>
                      <a:endParaRPr lang="en-IN"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3809156"/>
                  </a:ext>
                </a:extLst>
              </a:tr>
            </a:tbl>
          </a:graphicData>
        </a:graphic>
      </p:graphicFrame>
      <p:sp>
        <p:nvSpPr>
          <p:cNvPr id="7" name="Text Box 25">
            <a:extLst>
              <a:ext uri="{FF2B5EF4-FFF2-40B4-BE49-F238E27FC236}">
                <a16:creationId xmlns:a16="http://schemas.microsoft.com/office/drawing/2014/main" id="{972B0F54-366B-8E50-50BB-B16F984A245C}"/>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66F5A01D-FE5D-9C7C-589D-EA3237AF8C3C}"/>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3649968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E0755-D8FA-FAE9-A4CB-4F2EE4416A3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BC793210-144F-50D6-E348-761F9300F970}"/>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66F485F3-3DC6-92BE-8D58-EB3CD9C07596}"/>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B8C39C38-EDF2-9849-E55B-F3DA10E6600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E6F36244-5730-76A0-14B4-CF4D1488F819}"/>
              </a:ext>
            </a:extLst>
          </p:cNvPr>
          <p:cNvSpPr txBox="1"/>
          <p:nvPr/>
        </p:nvSpPr>
        <p:spPr>
          <a:xfrm>
            <a:off x="906670" y="0"/>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US" sz="2800" dirty="0">
                <a:solidFill>
                  <a:srgbClr val="0070C0"/>
                </a:solidFill>
                <a:latin typeface="+mn-ea"/>
                <a:cs typeface="+mn-ea"/>
                <a:sym typeface="+mn-ea"/>
              </a:rPr>
              <a:t>REFERENCES</a:t>
            </a:r>
            <a:endParaRPr lang="en-US" sz="2800" dirty="0">
              <a:solidFill>
                <a:srgbClr val="0070C0"/>
              </a:solidFill>
            </a:endParaRPr>
          </a:p>
          <a:p>
            <a:endParaRPr lang="en-US" dirty="0"/>
          </a:p>
          <a:p>
            <a:endParaRPr lang="en-US" dirty="0"/>
          </a:p>
        </p:txBody>
      </p:sp>
      <p:sp>
        <p:nvSpPr>
          <p:cNvPr id="6" name="Rectangle 1">
            <a:extLst>
              <a:ext uri="{FF2B5EF4-FFF2-40B4-BE49-F238E27FC236}">
                <a16:creationId xmlns:a16="http://schemas.microsoft.com/office/drawing/2014/main" id="{4E6F5F33-EDFF-CC53-C812-650E4C98F6F0}"/>
              </a:ext>
            </a:extLst>
          </p:cNvPr>
          <p:cNvSpPr>
            <a:spLocks noGrp="1" noChangeArrowheads="1"/>
          </p:cNvSpPr>
          <p:nvPr>
            <p:ph idx="1"/>
          </p:nvPr>
        </p:nvSpPr>
        <p:spPr bwMode="auto">
          <a:xfrm>
            <a:off x="1001478" y="1820644"/>
            <a:ext cx="9749649" cy="3846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[1]. B. Ghosh, S. Roy, N. Ahmed, and D. De, ―Dew Aeroponics: Dew-Enabled Smart Aeroponics System in Agriculture 4.0,‖ </a:t>
            </a:r>
            <a:r>
              <a:rPr lang="en-US" sz="1600" i="1" dirty="0">
                <a:latin typeface="Times New Roman" panose="02020603050405020304" pitchFamily="18" charset="0"/>
                <a:cs typeface="Times New Roman" panose="02020603050405020304" pitchFamily="18" charset="0"/>
              </a:rPr>
              <a:t>Internet of things</a:t>
            </a:r>
            <a:r>
              <a:rPr lang="en-US" sz="1600" dirty="0">
                <a:latin typeface="Times New Roman" panose="02020603050405020304" pitchFamily="18" charset="0"/>
                <a:cs typeface="Times New Roman" panose="02020603050405020304" pitchFamily="18" charset="0"/>
              </a:rPr>
              <a:t>, pp. 261–287, Sep. 2023,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https://doi.org/10.1007/978-981-99-4590-0_13. </a:t>
            </a:r>
          </a:p>
          <a:p>
            <a:pPr marL="0" indent="0">
              <a:buNone/>
            </a:pPr>
            <a:r>
              <a:rPr lang="en-US" sz="1600" dirty="0">
                <a:latin typeface="Times New Roman" panose="02020603050405020304" pitchFamily="18" charset="0"/>
                <a:cs typeface="Times New Roman" panose="02020603050405020304" pitchFamily="18" charset="0"/>
              </a:rPr>
              <a:t>[2]. K. Paul </a:t>
            </a:r>
            <a:r>
              <a:rPr lang="en-US" sz="1600" i="1" dirty="0">
                <a:latin typeface="Times New Roman" panose="02020603050405020304" pitchFamily="18" charset="0"/>
                <a:cs typeface="Times New Roman" panose="02020603050405020304" pitchFamily="18" charset="0"/>
              </a:rPr>
              <a:t>et al.</a:t>
            </a:r>
            <a:r>
              <a:rPr lang="en-US" sz="1600" dirty="0">
                <a:latin typeface="Times New Roman" panose="02020603050405020304" pitchFamily="18" charset="0"/>
                <a:cs typeface="Times New Roman" panose="02020603050405020304" pitchFamily="18" charset="0"/>
              </a:rPr>
              <a:t>, ―Viable smart sensors and their application in data driven agriculture,‖ </a:t>
            </a:r>
            <a:r>
              <a:rPr lang="en-US" sz="1600" i="1" dirty="0">
                <a:latin typeface="Times New Roman" panose="02020603050405020304" pitchFamily="18" charset="0"/>
                <a:cs typeface="Times New Roman" panose="02020603050405020304" pitchFamily="18" charset="0"/>
              </a:rPr>
              <a:t>Computers and Electronics in Agriculture</a:t>
            </a:r>
            <a:r>
              <a:rPr lang="en-US" sz="1600" dirty="0">
                <a:latin typeface="Times New Roman" panose="02020603050405020304" pitchFamily="18" charset="0"/>
                <a:cs typeface="Times New Roman" panose="02020603050405020304" pitchFamily="18" charset="0"/>
              </a:rPr>
              <a:t>, vol. 198, p. 107096, Jul. 2022.</a:t>
            </a:r>
          </a:p>
          <a:p>
            <a:pPr marL="0" indent="0">
              <a:buNone/>
            </a:pPr>
            <a:r>
              <a:rPr lang="en-US" sz="1600" dirty="0">
                <a:latin typeface="Times New Roman" panose="02020603050405020304" pitchFamily="18" charset="0"/>
                <a:cs typeface="Times New Roman" panose="02020603050405020304" pitchFamily="18" charset="0"/>
              </a:rPr>
              <a:t>[3]. G. Ravi, et. al. ―Soil Monitoring and Crop Yield Prediction Using Machine Learning‖, Turkish Journal of Computer and Mathematics Education (TURCOMAT), vol. 12, no. 11, pp. 5498–5503, May 2021. </a:t>
            </a:r>
          </a:p>
          <a:p>
            <a:pPr marL="0" indent="0">
              <a:buNone/>
            </a:pPr>
            <a:r>
              <a:rPr lang="en-US" sz="1600" dirty="0">
                <a:latin typeface="Times New Roman" panose="02020603050405020304" pitchFamily="18" charset="0"/>
                <a:cs typeface="Times New Roman" panose="02020603050405020304" pitchFamily="18" charset="0"/>
              </a:rPr>
              <a:t>[4]. S. Sathesh, S. Maheswaran, T. Karthi, N. Kumar, R. Kumar, and R. </a:t>
            </a:r>
            <a:r>
              <a:rPr lang="en-US" sz="1600" dirty="0" err="1">
                <a:latin typeface="Times New Roman" panose="02020603050405020304" pitchFamily="18" charset="0"/>
                <a:cs typeface="Times New Roman" panose="02020603050405020304" pitchFamily="18" charset="0"/>
              </a:rPr>
              <a:t>Sabarishwaran</a:t>
            </a:r>
            <a:r>
              <a:rPr lang="en-US" sz="1600" dirty="0">
                <a:latin typeface="Times New Roman" panose="02020603050405020304" pitchFamily="18" charset="0"/>
                <a:cs typeface="Times New Roman" panose="02020603050405020304" pitchFamily="18" charset="0"/>
              </a:rPr>
              <a:t>, "Sensor Based </a:t>
            </a:r>
            <a:r>
              <a:rPr lang="en-US" sz="1600" dirty="0" err="1">
                <a:latin typeface="Times New Roman" panose="02020603050405020304" pitchFamily="18" charset="0"/>
                <a:cs typeface="Times New Roman" panose="02020603050405020304" pitchFamily="18" charset="0"/>
              </a:rPr>
              <a:t>Agribot</a:t>
            </a:r>
            <a:r>
              <a:rPr lang="en-US" sz="1600" dirty="0">
                <a:latin typeface="Times New Roman" panose="02020603050405020304" pitchFamily="18" charset="0"/>
                <a:cs typeface="Times New Roman" panose="02020603050405020304" pitchFamily="18" charset="0"/>
              </a:rPr>
              <a:t> For Agricultural Field," in 2023 14th International Conference on Computing Communication and Networking Technologies (ICCCNT), 2023: IEEE, pp. 1-6, 2023 </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342900" indent="-342900" fontAlgn="base">
              <a:lnSpc>
                <a:spcPct val="150000"/>
              </a:lnSpc>
              <a:spcBef>
                <a:spcPct val="0"/>
              </a:spcBef>
              <a:spcAft>
                <a:spcPct val="0"/>
              </a:spcAft>
              <a:buAutoNum type="arabicPeriod"/>
            </a:pPr>
            <a:endParaRPr lang="en-US" altLang="en-US" sz="1600" dirty="0">
              <a:solidFill>
                <a:srgbClr val="002060"/>
              </a:solidFill>
              <a:latin typeface="Times New Roman" panose="02020603050405020304" pitchFamily="18" charset="0"/>
              <a:ea typeface="+mj-ea"/>
              <a:cs typeface="Times New Roman" panose="02020603050405020304" pitchFamily="18" charset="0"/>
            </a:endParaRPr>
          </a:p>
        </p:txBody>
      </p:sp>
      <p:sp>
        <p:nvSpPr>
          <p:cNvPr id="5" name="Text Box 25">
            <a:extLst>
              <a:ext uri="{FF2B5EF4-FFF2-40B4-BE49-F238E27FC236}">
                <a16:creationId xmlns:a16="http://schemas.microsoft.com/office/drawing/2014/main" id="{C7B808D0-58F9-80D6-1F12-937C78DEC1C7}"/>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7" name="Picture 6">
            <a:extLst>
              <a:ext uri="{FF2B5EF4-FFF2-40B4-BE49-F238E27FC236}">
                <a16:creationId xmlns:a16="http://schemas.microsoft.com/office/drawing/2014/main" id="{E4D543E6-69D1-7764-F08D-B441B337C317}"/>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178294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0E8EE-C9E6-F643-9C1D-6703282C3D6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57AD1DA-A7A1-3952-AA13-F153CBA6DC41}"/>
              </a:ext>
            </a:extLst>
          </p:cNvPr>
          <p:cNvSpPr txBox="1"/>
          <p:nvPr/>
        </p:nvSpPr>
        <p:spPr>
          <a:xfrm>
            <a:off x="3334987" y="2767280"/>
            <a:ext cx="5355771" cy="1323439"/>
          </a:xfrm>
          <a:prstGeom prst="rect">
            <a:avLst/>
          </a:prstGeom>
          <a:noFill/>
        </p:spPr>
        <p:txBody>
          <a:bodyPr wrap="square" rtlCol="0">
            <a:spAutoFit/>
          </a:bodyPr>
          <a:lstStyle/>
          <a:p>
            <a:pPr algn="ctr"/>
            <a:r>
              <a:rPr lang="en-US" sz="8000" dirty="0">
                <a:solidFill>
                  <a:schemeClr val="accent6">
                    <a:lumMod val="75000"/>
                  </a:schemeClr>
                </a:solidFill>
              </a:rPr>
              <a:t>THANK YOU</a:t>
            </a:r>
            <a:endParaRPr lang="en-IN" sz="8000" dirty="0">
              <a:solidFill>
                <a:schemeClr val="accent6">
                  <a:lumMod val="75000"/>
                </a:schemeClr>
              </a:solidFill>
            </a:endParaRPr>
          </a:p>
        </p:txBody>
      </p:sp>
      <p:sp>
        <p:nvSpPr>
          <p:cNvPr id="2" name="Rectangle 1">
            <a:extLst>
              <a:ext uri="{FF2B5EF4-FFF2-40B4-BE49-F238E27FC236}">
                <a16:creationId xmlns:a16="http://schemas.microsoft.com/office/drawing/2014/main" id="{6288E902-9331-9494-900A-90FEAEBCC3E7}"/>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CDF25360-C06D-C958-C117-625AB61C14E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7" name="Text Box 25">
            <a:extLst>
              <a:ext uri="{FF2B5EF4-FFF2-40B4-BE49-F238E27FC236}">
                <a16:creationId xmlns:a16="http://schemas.microsoft.com/office/drawing/2014/main" id="{BB9AC31D-E9BA-3B24-8D6D-2A29CFC0478D}"/>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4" name="Picture 3">
            <a:extLst>
              <a:ext uri="{FF2B5EF4-FFF2-40B4-BE49-F238E27FC236}">
                <a16:creationId xmlns:a16="http://schemas.microsoft.com/office/drawing/2014/main" id="{AAFFD7C9-1E21-F936-0BF4-F97354B96AE0}"/>
              </a:ext>
            </a:extLst>
          </p:cNvPr>
          <p:cNvPicPr>
            <a:picLocks noChangeAspect="1"/>
          </p:cNvPicPr>
          <p:nvPr/>
        </p:nvPicPr>
        <p:blipFill>
          <a:blip r:embed="rId3"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629969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TotalTime>
  <Words>1659</Words>
  <Application>Microsoft Office PowerPoint</Application>
  <PresentationFormat>Widescreen</PresentationFormat>
  <Paragraphs>154</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Shubham</dc:creator>
  <cp:lastModifiedBy>DELL</cp:lastModifiedBy>
  <cp:revision>78</cp:revision>
  <dcterms:created xsi:type="dcterms:W3CDTF">2023-11-24T16:43:00Z</dcterms:created>
  <dcterms:modified xsi:type="dcterms:W3CDTF">2025-11-04T05:22:58Z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5456EE27B2694612BB5B21F35167A5EE_11</vt:lpwstr>
  </property>
  <property fmtid="{D5CDD505-2E9C-101B-9397-08002B2CF9AE}" pid="3" name="KSOProductBuildVer">
    <vt:lpwstr>1033-12.2.0.13306</vt:lpwstr>
  </property>
</Properties>
</file>